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8.png" ContentType="image/png"/>
  <Override PartName="/ppt/media/image9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Cliquez pour déplacer la diapo</a:t>
            </a:r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fr-FR" sz="2000" spc="-1" strike="noStrike">
                <a:latin typeface="Arial"/>
              </a:rPr>
              <a:t>Cliquez pour </a:t>
            </a:r>
            <a:r>
              <a:rPr b="0" lang="fr-FR" sz="2000" spc="-1" strike="noStrike">
                <a:latin typeface="Arial"/>
              </a:rPr>
              <a:t>modifier le </a:t>
            </a:r>
            <a:r>
              <a:rPr b="0" lang="fr-FR" sz="2000" spc="-1" strike="noStrike">
                <a:latin typeface="Arial"/>
              </a:rPr>
              <a:t>format des </a:t>
            </a:r>
            <a:r>
              <a:rPr b="0" lang="fr-FR" sz="2000" spc="-1" strike="noStrike">
                <a:latin typeface="Arial"/>
              </a:rPr>
              <a:t>notes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fr-FR" sz="1400" spc="-1" strike="noStrike">
                <a:latin typeface="Times New Roman"/>
              </a:rPr>
              <a:t>&lt;en-tête&gt;</a:t>
            </a:r>
            <a:endParaRPr b="0" lang="fr-FR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fr-FR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fr-FR" sz="1400" spc="-1" strike="noStrike">
                <a:latin typeface="Times New Roman"/>
              </a:rPr>
              <a:t>&lt;date/heure&gt;</a:t>
            </a:r>
            <a:endParaRPr b="0" lang="fr-FR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fr-FR" sz="1400" spc="-1" strike="noStrike">
                <a:latin typeface="Times New Roman"/>
              </a:defRPr>
            </a:lvl1pPr>
          </a:lstStyle>
          <a:p>
            <a:r>
              <a:rPr b="0" lang="fr-FR" sz="1400" spc="-1" strike="noStrike">
                <a:latin typeface="Times New Roman"/>
              </a:rPr>
              <a:t>&lt;pied de page&gt;</a:t>
            </a:r>
            <a:endParaRPr b="0" lang="fr-FR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fr-FR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1C2D98DE-2CF0-45A2-AE25-DF093262204E}" type="slidenum">
              <a:rPr b="0" lang="fr-FR" sz="1400" spc="-1" strike="noStrike">
                <a:latin typeface="Times New Roman"/>
              </a:rPr>
              <a:t>&lt;numéro&gt;</a:t>
            </a:fld>
            <a:endParaRPr b="0" lang="fr-FR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Slide d'introduction. </a:t>
            </a:r>
            <a:r>
              <a:rPr b="0" lang="en-US" sz="2000" spc="-1" strike="noStrike">
                <a:latin typeface="Arial"/>
              </a:rPr>
              <a:t>Présentez le projet, le </a:t>
            </a:r>
            <a:r>
              <a:rPr b="0" lang="en-US" sz="2000" spc="-1" strike="noStrike">
                <a:latin typeface="Arial"/>
              </a:rPr>
              <a:t>groupe et le module.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31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1AF952E-F86A-4CC3-BF11-DBF61F43AEA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Présentez le </a:t>
            </a:r>
            <a:r>
              <a:rPr b="0" lang="en-US" sz="2000" spc="-1" strike="noStrike">
                <a:latin typeface="Arial"/>
              </a:rPr>
              <a:t>déroulé de la </a:t>
            </a:r>
            <a:r>
              <a:rPr b="0" lang="en-US" sz="2000" spc="-1" strike="noStrike">
                <a:latin typeface="Arial"/>
              </a:rPr>
              <a:t>présentation. ~15-</a:t>
            </a:r>
            <a:r>
              <a:rPr b="0" lang="en-US" sz="2000" spc="-1" strike="noStrike">
                <a:latin typeface="Arial"/>
              </a:rPr>
              <a:t>20 minutes au </a:t>
            </a:r>
            <a:r>
              <a:rPr b="0" lang="en-US" sz="2000" spc="-1" strike="noStrike">
                <a:latin typeface="Arial"/>
              </a:rPr>
              <a:t>total.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32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6A7689E-FBF8-4441-B22E-6F85ECF1261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Expliquez </a:t>
            </a:r>
            <a:r>
              <a:rPr b="0" lang="en-US" sz="2000" spc="-1" strike="noStrike">
                <a:latin typeface="Arial"/>
              </a:rPr>
              <a:t>pourquoi les </a:t>
            </a:r>
            <a:r>
              <a:rPr b="0" lang="en-US" sz="2000" spc="-1" strike="noStrike">
                <a:latin typeface="Arial"/>
              </a:rPr>
              <a:t>agents IA </a:t>
            </a:r>
            <a:r>
              <a:rPr b="0" lang="en-US" sz="2000" spc="-1" strike="noStrike">
                <a:latin typeface="Arial"/>
              </a:rPr>
              <a:t>représentent </a:t>
            </a:r>
            <a:r>
              <a:rPr b="0" lang="en-US" sz="2000" spc="-1" strike="noStrike">
                <a:latin typeface="Arial"/>
              </a:rPr>
              <a:t>une évolution </a:t>
            </a:r>
            <a:r>
              <a:rPr b="0" lang="en-US" sz="2000" spc="-1" strike="noStrike">
                <a:latin typeface="Arial"/>
              </a:rPr>
              <a:t>majeure par </a:t>
            </a:r>
            <a:r>
              <a:rPr b="0" lang="en-US" sz="2000" spc="-1" strike="noStrike">
                <a:latin typeface="Arial"/>
              </a:rPr>
              <a:t>rapport aux </a:t>
            </a:r>
            <a:r>
              <a:rPr b="0" lang="en-US" sz="2000" spc="-1" strike="noStrike">
                <a:latin typeface="Arial"/>
              </a:rPr>
              <a:t>chatbots </a:t>
            </a:r>
            <a:r>
              <a:rPr b="0" lang="en-US" sz="2000" spc="-1" strike="noStrike">
                <a:latin typeface="Arial"/>
              </a:rPr>
              <a:t>classiques.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32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221464B-DECE-4B84-8364-ABF4255FC83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Détaillez </a:t>
            </a:r>
            <a:r>
              <a:rPr b="0" lang="en-US" sz="2000" spc="-1" strike="noStrike">
                <a:latin typeface="Arial"/>
              </a:rPr>
              <a:t>chaque </a:t>
            </a:r>
            <a:r>
              <a:rPr b="0" lang="en-US" sz="2000" spc="-1" strike="noStrike">
                <a:latin typeface="Arial"/>
              </a:rPr>
              <a:t>concept. </a:t>
            </a:r>
            <a:r>
              <a:rPr b="0" lang="en-US" sz="2000" spc="-1" strike="noStrike">
                <a:latin typeface="Arial"/>
              </a:rPr>
              <a:t>Insistez sur </a:t>
            </a:r>
            <a:r>
              <a:rPr b="0" lang="en-US" sz="2000" spc="-1" strike="noStrike">
                <a:latin typeface="Arial"/>
              </a:rPr>
              <a:t>ReAct et </a:t>
            </a:r>
            <a:r>
              <a:rPr b="0" lang="en-US" sz="2000" spc="-1" strike="noStrike">
                <a:latin typeface="Arial"/>
              </a:rPr>
              <a:t>MCP qui sont </a:t>
            </a:r>
            <a:r>
              <a:rPr b="0" lang="en-US" sz="2000" spc="-1" strike="noStrike">
                <a:latin typeface="Arial"/>
              </a:rPr>
              <a:t>les plus </a:t>
            </a:r>
            <a:r>
              <a:rPr b="0" lang="en-US" sz="2000" spc="-1" strike="noStrike">
                <a:latin typeface="Arial"/>
              </a:rPr>
              <a:t>importants </a:t>
            </a:r>
            <a:r>
              <a:rPr b="0" lang="en-US" sz="2000" spc="-1" strike="noStrike">
                <a:latin typeface="Arial"/>
              </a:rPr>
              <a:t>pour </a:t>
            </a:r>
            <a:r>
              <a:rPr b="0" lang="en-US" sz="2000" spc="-1" strike="noStrike">
                <a:latin typeface="Arial"/>
              </a:rPr>
              <a:t>l'architecture.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32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6225951-A256-4BF3-B3DE-EC0EBDF10FB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Présentez le </a:t>
            </a:r>
            <a:r>
              <a:rPr b="0" lang="en-US" sz="2000" spc="-1" strike="noStrike">
                <a:latin typeface="Arial"/>
              </a:rPr>
              <a:t>cas d'usage </a:t>
            </a:r>
            <a:r>
              <a:rPr b="0" lang="en-US" sz="2000" spc="-1" strike="noStrike">
                <a:latin typeface="Arial"/>
              </a:rPr>
              <a:t>concret. </a:t>
            </a:r>
            <a:r>
              <a:rPr b="0" lang="en-US" sz="2000" spc="-1" strike="noStrike">
                <a:latin typeface="Arial"/>
              </a:rPr>
              <a:t>Montrez que </a:t>
            </a:r>
            <a:r>
              <a:rPr b="0" lang="en-US" sz="2000" spc="-1" strike="noStrike">
                <a:latin typeface="Arial"/>
              </a:rPr>
              <a:t>c'est un </a:t>
            </a:r>
            <a:r>
              <a:rPr b="0" lang="en-US" sz="2000" spc="-1" strike="noStrike">
                <a:latin typeface="Arial"/>
              </a:rPr>
              <a:t>agent qui </a:t>
            </a:r>
            <a:r>
              <a:rPr b="0" lang="en-US" sz="2000" spc="-1" strike="noStrike">
                <a:latin typeface="Arial"/>
              </a:rPr>
              <a:t>AGIT, pas qui </a:t>
            </a:r>
            <a:r>
              <a:rPr b="0" lang="en-US" sz="2000" spc="-1" strike="noStrike">
                <a:latin typeface="Arial"/>
              </a:rPr>
              <a:t>répond juste.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332142E-ACF6-4F2A-BA3D-FDD411BA4A9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Expliquez le flux : la requête passe par le LLM qui décide de quel tool </a:t>
            </a:r>
            <a:r>
              <a:rPr b="0" lang="en-US" sz="2000" spc="-1" strike="noStrike">
                <a:latin typeface="Arial"/>
              </a:rPr>
              <a:t>utiliser, exécute, observe, répond. Montrez les 7 tools.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33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20BA9C5-6C95-4C14-9D28-6ADAA119063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Justifiez le choix de chaque technologie. Insistez sur Groq (gratuit, rapide) et LangChain (abstraction agents).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33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6994417-58C5-4F04-9A73-BA94B163610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r>
              <a:rPr b="0" lang="en-US" sz="2000" spc="-1" strike="noStrike">
                <a:latin typeface="Arial"/>
              </a:rPr>
              <a:t>DÉMONSTRATION EN DIRECT. Lancez l'interface Streamlit : streamlit run app.py</a:t>
            </a:r>
            <a:endParaRPr b="0" lang="fr-F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Montrez search_player, compare_players, get_league_standings, get_live_matches.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33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752F67E-E32A-46EF-8BF4-E5FAE7EB048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Présentez les résultats concrets des tests. Mettez en avant le taux de sélection correcte du tool.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342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712E9B8-D9B5-44E9-BD4A-5A5E6D66C84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Soyez honnêtes sur les limites — ça montre de la maturité. Insistez sur l'extensibilité de l'architecture.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345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3B7A766-3F7B-432A-9473-538B8843070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Concluez en récapitulant ce que vous avez appris et réalisé. Ouvrez la parole aux questions.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348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B2EE1B4-C6E2-4DC7-B1B4-72B2FCB431F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Slide finale. Restez ouverts aux questions techniques sur l'architecture, les tools, LangChain, ou Groq.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351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314129C-7E8C-4EDC-82EC-F21AA9AE725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0000"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0000"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0000"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0000"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0000"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0000"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Cliquez pour éditer le format du texte-titre</a:t>
            </a:r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Calibri"/>
              </a:rPr>
              <a:t>Cliquez pour éditer le format du plan de texte</a:t>
            </a:r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Second niveau de plan</a:t>
            </a:r>
            <a:endParaRPr b="0" lang="fr-FR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Troisième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Quatrième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Cinquième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Sixième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Septième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5943600" y="-914400"/>
            <a:ext cx="5486040" cy="5486040"/>
          </a:xfrm>
          <a:prstGeom prst="ellipse">
            <a:avLst/>
          </a:prstGeom>
          <a:solidFill>
            <a:srgbClr val="1a472a">
              <a:alpha val="25000"/>
            </a:srgbClr>
          </a:solidFill>
          <a:ln w="12700">
            <a:solidFill>
              <a:srgbClr val="1a472a">
                <a:alpha val="2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Shape 1"/>
          <p:cNvSpPr/>
          <p:nvPr/>
        </p:nvSpPr>
        <p:spPr>
          <a:xfrm>
            <a:off x="-1371600" y="2743200"/>
            <a:ext cx="3657240" cy="3657240"/>
          </a:xfrm>
          <a:prstGeom prst="ellipse">
            <a:avLst/>
          </a:prstGeom>
          <a:solidFill>
            <a:srgbClr val="2d7a4f">
              <a:alpha val="20000"/>
            </a:srgbClr>
          </a:solidFill>
          <a:ln w="12700">
            <a:solidFill>
              <a:srgbClr val="2d7a4f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46" name="Image 0" descr="preencoded.png"/>
          <p:cNvPicPr/>
          <p:nvPr/>
        </p:nvPicPr>
        <p:blipFill>
          <a:blip r:embed="rId1"/>
          <a:stretch/>
        </p:blipFill>
        <p:spPr>
          <a:xfrm>
            <a:off x="4114800" y="502920"/>
            <a:ext cx="914040" cy="914040"/>
          </a:xfrm>
          <a:prstGeom prst="rect">
            <a:avLst/>
          </a:prstGeom>
          <a:ln w="0">
            <a:noFill/>
          </a:ln>
        </p:spPr>
      </p:pic>
      <p:sp>
        <p:nvSpPr>
          <p:cNvPr id="47" name="Text 2"/>
          <p:cNvSpPr/>
          <p:nvPr/>
        </p:nvSpPr>
        <p:spPr>
          <a:xfrm>
            <a:off x="457200" y="160020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800" spc="299" strike="noStrike">
                <a:solidFill>
                  <a:srgbClr val="ffffff"/>
                </a:solidFill>
                <a:latin typeface="Calibri"/>
                <a:ea typeface="Calibri"/>
              </a:rPr>
              <a:t>FOOTBALL SCOUT AGENT</a:t>
            </a:r>
            <a:endParaRPr b="0" lang="fr-FR" sz="3800" spc="-1" strike="noStrike">
              <a:latin typeface="Arial"/>
            </a:endParaRPr>
          </a:p>
        </p:txBody>
      </p:sp>
      <p:sp>
        <p:nvSpPr>
          <p:cNvPr id="48" name="Shape 3"/>
          <p:cNvSpPr/>
          <p:nvPr/>
        </p:nvSpPr>
        <p:spPr>
          <a:xfrm>
            <a:off x="3200400" y="2651760"/>
            <a:ext cx="2742840" cy="36360"/>
          </a:xfrm>
          <a:prstGeom prst="rect">
            <a:avLst/>
          </a:prstGeom>
          <a:solidFill>
            <a:srgbClr val="4caf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" name="Text 4"/>
          <p:cNvSpPr/>
          <p:nvPr/>
        </p:nvSpPr>
        <p:spPr>
          <a:xfrm>
            <a:off x="457200" y="283464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a5d6a7"/>
                </a:solidFill>
                <a:latin typeface="Calibri"/>
                <a:ea typeface="Calibri"/>
              </a:rPr>
              <a:t>Agent IA basé sur LangChain + Groq LLaMA 3</a:t>
            </a:r>
            <a:endParaRPr b="0" lang="fr-FR" sz="1700" spc="-1" strike="noStrike">
              <a:latin typeface="Arial"/>
            </a:endParaRPr>
          </a:p>
        </p:txBody>
      </p:sp>
      <p:sp>
        <p:nvSpPr>
          <p:cNvPr id="50" name="Text 5"/>
          <p:cNvSpPr/>
          <p:nvPr/>
        </p:nvSpPr>
        <p:spPr>
          <a:xfrm>
            <a:off x="457200" y="402336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90a4ae"/>
                </a:solidFill>
                <a:latin typeface="Calibri"/>
                <a:ea typeface="Calibri"/>
              </a:rPr>
              <a:t>Module : IA Générative  |  </a:t>
            </a:r>
            <a:r>
              <a:rPr b="0" lang="en-US" sz="1300" spc="-1" strike="noStrike">
                <a:solidFill>
                  <a:srgbClr val="90a4ae"/>
                </a:solidFill>
                <a:latin typeface="Calibri"/>
                <a:ea typeface="Calibri"/>
              </a:rPr>
              <a:t>Ghada toukabri</a:t>
            </a:r>
            <a:endParaRPr b="0" lang="fr-FR" sz="1300" spc="-1" strike="noStrike">
              <a:latin typeface="Arial"/>
            </a:endParaRPr>
          </a:p>
          <a:p>
            <a:r>
              <a:rPr b="0" lang="en-US" sz="1300" spc="-1" strike="noStrike">
                <a:solidFill>
                  <a:srgbClr val="90a4ae"/>
                </a:solidFill>
                <a:latin typeface="Calibri"/>
                <a:ea typeface="Calibri"/>
              </a:rPr>
              <a:t>                                                                                      </a:t>
            </a:r>
            <a:r>
              <a:rPr b="0" lang="en-US" sz="1300" spc="-1" strike="noStrike">
                <a:solidFill>
                  <a:srgbClr val="90a4ae"/>
                </a:solidFill>
                <a:latin typeface="Calibri"/>
                <a:ea typeface="Calibri"/>
              </a:rPr>
              <a:t>wissal hammami</a:t>
            </a:r>
            <a:endParaRPr b="0" lang="fr-FR" sz="1300" spc="-1" strike="noStrike">
              <a:latin typeface="Arial"/>
            </a:endParaRPr>
          </a:p>
          <a:p>
            <a:r>
              <a:rPr b="0" lang="en-US" sz="1300" spc="-1" strike="noStrike">
                <a:solidFill>
                  <a:srgbClr val="90a4ae"/>
                </a:solidFill>
                <a:latin typeface="Calibri"/>
                <a:ea typeface="Calibri"/>
              </a:rPr>
              <a:t>                                                                                      </a:t>
            </a:r>
            <a:r>
              <a:rPr b="0" lang="en-US" sz="1300" spc="-1" strike="noStrike">
                <a:solidFill>
                  <a:srgbClr val="90a4ae"/>
                </a:solidFill>
                <a:latin typeface="Calibri"/>
                <a:ea typeface="Calibri"/>
              </a:rPr>
              <a:t>Achref chaalali</a:t>
            </a:r>
            <a:endParaRPr b="0" lang="fr-FR" sz="1300" spc="-1" strike="noStrike">
              <a:latin typeface="Arial"/>
            </a:endParaRPr>
          </a:p>
          <a:p>
            <a:r>
              <a:rPr b="0" lang="en-US" sz="1300" spc="-1" strike="noStrike">
                <a:solidFill>
                  <a:srgbClr val="90a4ae"/>
                </a:solidFill>
                <a:latin typeface="Calibri"/>
                <a:ea typeface="Calibri"/>
              </a:rPr>
              <a:t>                                                                                      </a:t>
            </a:r>
            <a:r>
              <a:rPr b="0" lang="en-US" sz="1300" spc="-1" strike="noStrike">
                <a:solidFill>
                  <a:srgbClr val="90a4ae"/>
                </a:solidFill>
                <a:latin typeface="Calibri"/>
                <a:ea typeface="Calibri"/>
              </a:rPr>
              <a:t>Seif eddine turki</a:t>
            </a:r>
            <a:endParaRPr b="0" lang="fr-FR" sz="1300" spc="-1" strike="noStrike">
              <a:latin typeface="Arial"/>
            </a:endParaRPr>
          </a:p>
          <a:p>
            <a:r>
              <a:rPr b="0" lang="en-US" sz="1300" spc="-1" strike="noStrike">
                <a:solidFill>
                  <a:srgbClr val="90a4ae"/>
                </a:solidFill>
                <a:latin typeface="Calibri"/>
                <a:ea typeface="Calibri"/>
              </a:rPr>
              <a:t>                                                                                      </a:t>
            </a:r>
            <a:r>
              <a:rPr b="0" lang="en-US" sz="1300" spc="-1" strike="noStrike">
                <a:solidFill>
                  <a:srgbClr val="90a4ae"/>
                </a:solidFill>
                <a:latin typeface="Calibri"/>
                <a:ea typeface="Calibri"/>
              </a:rPr>
              <a:t>Oussama souayah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51" name="Text 6"/>
          <p:cNvSpPr/>
          <p:nvPr/>
        </p:nvSpPr>
        <p:spPr>
          <a:xfrm>
            <a:off x="410760" y="490032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90a4ae"/>
                </a:solidFill>
                <a:latin typeface="Calibri"/>
                <a:ea typeface="Calibri"/>
              </a:rPr>
              <a:t>Année universitaire 2025-2026</a:t>
            </a:r>
            <a:endParaRPr b="0" lang="fr-F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0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1a47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Text 1"/>
          <p:cNvSpPr/>
          <p:nvPr/>
        </p:nvSpPr>
        <p:spPr>
          <a:xfrm>
            <a:off x="457200" y="9144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Plan de la présentation</a:t>
            </a:r>
            <a:endParaRPr b="0" lang="fr-FR" sz="2600" spc="-1" strike="noStrike">
              <a:latin typeface="Arial"/>
            </a:endParaRPr>
          </a:p>
        </p:txBody>
      </p:sp>
      <p:sp>
        <p:nvSpPr>
          <p:cNvPr id="54" name="Shape 2"/>
          <p:cNvSpPr/>
          <p:nvPr/>
        </p:nvSpPr>
        <p:spPr>
          <a:xfrm>
            <a:off x="365760" y="1097280"/>
            <a:ext cx="4114440" cy="100548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0">
            <a:noFill/>
          </a:ln>
          <a:effectLst>
            <a:outerShdw algn="bl" blurRad="12708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5" name="Shape 3"/>
          <p:cNvSpPr/>
          <p:nvPr/>
        </p:nvSpPr>
        <p:spPr>
          <a:xfrm>
            <a:off x="475560" y="1261800"/>
            <a:ext cx="456840" cy="456840"/>
          </a:xfrm>
          <a:prstGeom prst="roundRect">
            <a:avLst>
              <a:gd name="adj" fmla="val 16000"/>
            </a:avLst>
          </a:prstGeom>
          <a:solidFill>
            <a:srgbClr val="1a47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6" name="Text 4"/>
          <p:cNvSpPr/>
          <p:nvPr/>
        </p:nvSpPr>
        <p:spPr>
          <a:xfrm>
            <a:off x="475560" y="12618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01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57" name="Text 5"/>
          <p:cNvSpPr/>
          <p:nvPr/>
        </p:nvSpPr>
        <p:spPr>
          <a:xfrm>
            <a:off x="1024200" y="1188720"/>
            <a:ext cx="33462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1a472a"/>
                </a:solidFill>
                <a:latin typeface="Calibri"/>
                <a:ea typeface="Calibri"/>
              </a:rPr>
              <a:t>Introduction &amp; Contexte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58" name="Text 6"/>
          <p:cNvSpPr/>
          <p:nvPr/>
        </p:nvSpPr>
        <p:spPr>
          <a:xfrm>
            <a:off x="1024200" y="1600200"/>
            <a:ext cx="3346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555555"/>
                </a:solidFill>
                <a:latin typeface="Calibri"/>
                <a:ea typeface="Calibri"/>
              </a:rPr>
              <a:t>Pourquoi les agents IA ?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59" name="Shape 7"/>
          <p:cNvSpPr/>
          <p:nvPr/>
        </p:nvSpPr>
        <p:spPr>
          <a:xfrm>
            <a:off x="4800600" y="1097280"/>
            <a:ext cx="4114440" cy="100548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0">
            <a:noFill/>
          </a:ln>
          <a:effectLst>
            <a:outerShdw algn="bl" blurRad="12708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0" name="Shape 8"/>
          <p:cNvSpPr/>
          <p:nvPr/>
        </p:nvSpPr>
        <p:spPr>
          <a:xfrm>
            <a:off x="4910400" y="1261800"/>
            <a:ext cx="456840" cy="456840"/>
          </a:xfrm>
          <a:prstGeom prst="roundRect">
            <a:avLst>
              <a:gd name="adj" fmla="val 16000"/>
            </a:avLst>
          </a:prstGeom>
          <a:solidFill>
            <a:srgbClr val="1a47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1" name="Text 9"/>
          <p:cNvSpPr/>
          <p:nvPr/>
        </p:nvSpPr>
        <p:spPr>
          <a:xfrm>
            <a:off x="4910400" y="12618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02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62" name="Text 10"/>
          <p:cNvSpPr/>
          <p:nvPr/>
        </p:nvSpPr>
        <p:spPr>
          <a:xfrm>
            <a:off x="5459040" y="1188720"/>
            <a:ext cx="33462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1a472a"/>
                </a:solidFill>
                <a:latin typeface="Calibri"/>
                <a:ea typeface="Calibri"/>
              </a:rPr>
              <a:t>Concepts d'IA Générative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63" name="Text 11"/>
          <p:cNvSpPr/>
          <p:nvPr/>
        </p:nvSpPr>
        <p:spPr>
          <a:xfrm>
            <a:off x="5459040" y="1600200"/>
            <a:ext cx="3346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555555"/>
                </a:solidFill>
                <a:latin typeface="Calibri"/>
                <a:ea typeface="Calibri"/>
              </a:rPr>
              <a:t>ReAct, Tools, MCP, Mémoire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64" name="Shape 12"/>
          <p:cNvSpPr/>
          <p:nvPr/>
        </p:nvSpPr>
        <p:spPr>
          <a:xfrm>
            <a:off x="365760" y="2286000"/>
            <a:ext cx="4114440" cy="100548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0">
            <a:noFill/>
          </a:ln>
          <a:effectLst>
            <a:outerShdw algn="bl" blurRad="12708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5" name="Shape 13"/>
          <p:cNvSpPr/>
          <p:nvPr/>
        </p:nvSpPr>
        <p:spPr>
          <a:xfrm>
            <a:off x="475560" y="2450520"/>
            <a:ext cx="456840" cy="456840"/>
          </a:xfrm>
          <a:prstGeom prst="roundRect">
            <a:avLst>
              <a:gd name="adj" fmla="val 16000"/>
            </a:avLst>
          </a:prstGeom>
          <a:solidFill>
            <a:srgbClr val="1a47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6" name="Text 14"/>
          <p:cNvSpPr/>
          <p:nvPr/>
        </p:nvSpPr>
        <p:spPr>
          <a:xfrm>
            <a:off x="475560" y="24505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03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67" name="Text 15"/>
          <p:cNvSpPr/>
          <p:nvPr/>
        </p:nvSpPr>
        <p:spPr>
          <a:xfrm>
            <a:off x="1024200" y="2377440"/>
            <a:ext cx="33462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1a472a"/>
                </a:solidFill>
                <a:latin typeface="Calibri"/>
                <a:ea typeface="Calibri"/>
              </a:rPr>
              <a:t>Notre Projet — Football Scout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68" name="Text 16"/>
          <p:cNvSpPr/>
          <p:nvPr/>
        </p:nvSpPr>
        <p:spPr>
          <a:xfrm>
            <a:off x="1024200" y="2788920"/>
            <a:ext cx="3346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555555"/>
                </a:solidFill>
                <a:latin typeface="Calibri"/>
                <a:ea typeface="Calibri"/>
              </a:rPr>
              <a:t>Objectifs et cas d'usage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69" name="Shape 17"/>
          <p:cNvSpPr/>
          <p:nvPr/>
        </p:nvSpPr>
        <p:spPr>
          <a:xfrm>
            <a:off x="4800600" y="2286000"/>
            <a:ext cx="4114440" cy="100548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0">
            <a:noFill/>
          </a:ln>
          <a:effectLst>
            <a:outerShdw algn="bl" blurRad="12708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0" name="Shape 18"/>
          <p:cNvSpPr/>
          <p:nvPr/>
        </p:nvSpPr>
        <p:spPr>
          <a:xfrm>
            <a:off x="4910400" y="2450520"/>
            <a:ext cx="456840" cy="456840"/>
          </a:xfrm>
          <a:prstGeom prst="roundRect">
            <a:avLst>
              <a:gd name="adj" fmla="val 16000"/>
            </a:avLst>
          </a:prstGeom>
          <a:solidFill>
            <a:srgbClr val="1a47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1" name="Text 19"/>
          <p:cNvSpPr/>
          <p:nvPr/>
        </p:nvSpPr>
        <p:spPr>
          <a:xfrm>
            <a:off x="4910400" y="24505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04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72" name="Text 20"/>
          <p:cNvSpPr/>
          <p:nvPr/>
        </p:nvSpPr>
        <p:spPr>
          <a:xfrm>
            <a:off x="5459040" y="2377440"/>
            <a:ext cx="33462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1a472a"/>
                </a:solidFill>
                <a:latin typeface="Calibri"/>
                <a:ea typeface="Calibri"/>
              </a:rPr>
              <a:t>Architecture &amp; Outils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73" name="Text 21"/>
          <p:cNvSpPr/>
          <p:nvPr/>
        </p:nvSpPr>
        <p:spPr>
          <a:xfrm>
            <a:off x="5459040" y="2788920"/>
            <a:ext cx="3346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555555"/>
                </a:solidFill>
                <a:latin typeface="Calibri"/>
                <a:ea typeface="Calibri"/>
              </a:rPr>
              <a:t>LangChain + Groq + API Football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74" name="Shape 22"/>
          <p:cNvSpPr/>
          <p:nvPr/>
        </p:nvSpPr>
        <p:spPr>
          <a:xfrm>
            <a:off x="365760" y="3474720"/>
            <a:ext cx="4114440" cy="100548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0">
            <a:noFill/>
          </a:ln>
          <a:effectLst>
            <a:outerShdw algn="bl" blurRad="12708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5" name="Shape 23"/>
          <p:cNvSpPr/>
          <p:nvPr/>
        </p:nvSpPr>
        <p:spPr>
          <a:xfrm>
            <a:off x="475560" y="3639240"/>
            <a:ext cx="456840" cy="456840"/>
          </a:xfrm>
          <a:prstGeom prst="roundRect">
            <a:avLst>
              <a:gd name="adj" fmla="val 16000"/>
            </a:avLst>
          </a:prstGeom>
          <a:solidFill>
            <a:srgbClr val="1a47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6" name="Text 24"/>
          <p:cNvSpPr/>
          <p:nvPr/>
        </p:nvSpPr>
        <p:spPr>
          <a:xfrm>
            <a:off x="475560" y="36392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05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77" name="Text 25"/>
          <p:cNvSpPr/>
          <p:nvPr/>
        </p:nvSpPr>
        <p:spPr>
          <a:xfrm>
            <a:off x="1024200" y="3566160"/>
            <a:ext cx="33462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1a472a"/>
                </a:solidFill>
                <a:latin typeface="Calibri"/>
                <a:ea typeface="Calibri"/>
              </a:rPr>
              <a:t>Démonstration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78" name="Text 26"/>
          <p:cNvSpPr/>
          <p:nvPr/>
        </p:nvSpPr>
        <p:spPr>
          <a:xfrm>
            <a:off x="1024200" y="3977640"/>
            <a:ext cx="3346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555555"/>
                </a:solidFill>
                <a:latin typeface="Calibri"/>
                <a:ea typeface="Calibri"/>
              </a:rPr>
              <a:t>Live — posez vos questions !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79" name="Shape 27"/>
          <p:cNvSpPr/>
          <p:nvPr/>
        </p:nvSpPr>
        <p:spPr>
          <a:xfrm>
            <a:off x="4800600" y="3474720"/>
            <a:ext cx="4114440" cy="100548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0">
            <a:noFill/>
          </a:ln>
          <a:effectLst>
            <a:outerShdw algn="bl" blurRad="12708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0" name="Shape 28"/>
          <p:cNvSpPr/>
          <p:nvPr/>
        </p:nvSpPr>
        <p:spPr>
          <a:xfrm>
            <a:off x="4910400" y="3639240"/>
            <a:ext cx="456840" cy="456840"/>
          </a:xfrm>
          <a:prstGeom prst="roundRect">
            <a:avLst>
              <a:gd name="adj" fmla="val 16000"/>
            </a:avLst>
          </a:prstGeom>
          <a:solidFill>
            <a:srgbClr val="1a47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1" name="Text 29"/>
          <p:cNvSpPr/>
          <p:nvPr/>
        </p:nvSpPr>
        <p:spPr>
          <a:xfrm>
            <a:off x="4910400" y="36392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06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82" name="Text 30"/>
          <p:cNvSpPr/>
          <p:nvPr/>
        </p:nvSpPr>
        <p:spPr>
          <a:xfrm>
            <a:off x="5459040" y="3566160"/>
            <a:ext cx="33462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1a472a"/>
                </a:solidFill>
                <a:latin typeface="Calibri"/>
                <a:ea typeface="Calibri"/>
              </a:rPr>
              <a:t>Résultats, Limites &amp; Perspectives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83" name="Text 31"/>
          <p:cNvSpPr/>
          <p:nvPr/>
        </p:nvSpPr>
        <p:spPr>
          <a:xfrm>
            <a:off x="5459040" y="3977640"/>
            <a:ext cx="3346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555555"/>
                </a:solidFill>
                <a:latin typeface="Calibri"/>
                <a:ea typeface="Calibri"/>
              </a:rPr>
              <a:t>Analyse critique</a:t>
            </a:r>
            <a:endParaRPr b="0" lang="fr-F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0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1a47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5" name="Text 1"/>
          <p:cNvSpPr/>
          <p:nvPr/>
        </p:nvSpPr>
        <p:spPr>
          <a:xfrm>
            <a:off x="457200" y="9144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01 — Introduction &amp; Contexte</a:t>
            </a:r>
            <a:endParaRPr b="0" lang="fr-FR" sz="2600" spc="-1" strike="noStrike">
              <a:latin typeface="Arial"/>
            </a:endParaRPr>
          </a:p>
        </p:txBody>
      </p:sp>
      <p:sp>
        <p:nvSpPr>
          <p:cNvPr id="86" name="Text 2"/>
          <p:cNvSpPr/>
          <p:nvPr/>
        </p:nvSpPr>
        <p:spPr>
          <a:xfrm>
            <a:off x="457200" y="105156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9a825"/>
                </a:solidFill>
                <a:latin typeface="Calibri"/>
                <a:ea typeface="Calibri"/>
              </a:rPr>
              <a:t>Du chatbot à l'agent IA</a:t>
            </a:r>
            <a:endParaRPr b="0" lang="fr-FR" sz="2200" spc="-1" strike="noStrike">
              <a:latin typeface="Arial"/>
            </a:endParaRPr>
          </a:p>
        </p:txBody>
      </p:sp>
      <p:sp>
        <p:nvSpPr>
          <p:cNvPr id="87" name="Shape 3"/>
          <p:cNvSpPr/>
          <p:nvPr/>
        </p:nvSpPr>
        <p:spPr>
          <a:xfrm>
            <a:off x="274320" y="1645920"/>
            <a:ext cx="3931560" cy="2651400"/>
          </a:xfrm>
          <a:prstGeom prst="roundRect">
            <a:avLst>
              <a:gd name="adj" fmla="val 4138"/>
            </a:avLst>
          </a:prstGeom>
          <a:solidFill>
            <a:srgbClr val="132b1a"/>
          </a:solidFill>
          <a:ln w="0">
            <a:noFill/>
          </a:ln>
          <a:effectLst>
            <a:outerShdw algn="bl" blurRad="12708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8" name="Text 4"/>
          <p:cNvSpPr/>
          <p:nvPr/>
        </p:nvSpPr>
        <p:spPr>
          <a:xfrm>
            <a:off x="457200" y="1783080"/>
            <a:ext cx="356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ef9a9a"/>
                </a:solidFill>
                <a:latin typeface="Calibri"/>
                <a:ea typeface="Calibri"/>
              </a:rPr>
              <a:t>❌  </a:t>
            </a:r>
            <a:r>
              <a:rPr b="1" lang="en-US" sz="1500" spc="-1" strike="noStrike">
                <a:solidFill>
                  <a:srgbClr val="ef9a9a"/>
                </a:solidFill>
                <a:latin typeface="Calibri"/>
                <a:ea typeface="Calibri"/>
              </a:rPr>
              <a:t>Simple Chatbot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89" name="Text 5"/>
          <p:cNvSpPr/>
          <p:nvPr/>
        </p:nvSpPr>
        <p:spPr>
          <a:xfrm>
            <a:off x="457200" y="2212920"/>
            <a:ext cx="3565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cfd8dc"/>
                </a:solidFill>
                <a:latin typeface="Calibri"/>
                <a:ea typeface="Calibri"/>
              </a:rPr>
              <a:t>•  </a:t>
            </a:r>
            <a:r>
              <a:rPr b="0" lang="en-US" sz="1250" spc="-1" strike="noStrike">
                <a:solidFill>
                  <a:srgbClr val="cfd8dc"/>
                </a:solidFill>
                <a:latin typeface="Calibri"/>
                <a:ea typeface="Calibri"/>
              </a:rPr>
              <a:t>Répond uniquement en texte</a:t>
            </a:r>
            <a:endParaRPr b="0" lang="fr-FR" sz="1250" spc="-1" strike="noStrike">
              <a:latin typeface="Arial"/>
            </a:endParaRPr>
          </a:p>
        </p:txBody>
      </p:sp>
      <p:sp>
        <p:nvSpPr>
          <p:cNvPr id="90" name="Text 6"/>
          <p:cNvSpPr/>
          <p:nvPr/>
        </p:nvSpPr>
        <p:spPr>
          <a:xfrm>
            <a:off x="457200" y="2597040"/>
            <a:ext cx="3565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cfd8dc"/>
                </a:solidFill>
                <a:latin typeface="Calibri"/>
                <a:ea typeface="Calibri"/>
              </a:rPr>
              <a:t>•  </a:t>
            </a:r>
            <a:r>
              <a:rPr b="0" lang="en-US" sz="1250" spc="-1" strike="noStrike">
                <a:solidFill>
                  <a:srgbClr val="cfd8dc"/>
                </a:solidFill>
                <a:latin typeface="Calibri"/>
                <a:ea typeface="Calibri"/>
              </a:rPr>
              <a:t>Pas d'accès aux données réelles</a:t>
            </a:r>
            <a:endParaRPr b="0" lang="fr-FR" sz="1250" spc="-1" strike="noStrike">
              <a:latin typeface="Arial"/>
            </a:endParaRPr>
          </a:p>
        </p:txBody>
      </p:sp>
      <p:sp>
        <p:nvSpPr>
          <p:cNvPr id="91" name="Text 7"/>
          <p:cNvSpPr/>
          <p:nvPr/>
        </p:nvSpPr>
        <p:spPr>
          <a:xfrm>
            <a:off x="457200" y="2980800"/>
            <a:ext cx="3565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cfd8dc"/>
                </a:solidFill>
                <a:latin typeface="Calibri"/>
                <a:ea typeface="Calibri"/>
              </a:rPr>
              <a:t>•  </a:t>
            </a:r>
            <a:r>
              <a:rPr b="0" lang="en-US" sz="1250" spc="-1" strike="noStrike">
                <a:solidFill>
                  <a:srgbClr val="cfd8dc"/>
                </a:solidFill>
                <a:latin typeface="Calibri"/>
                <a:ea typeface="Calibri"/>
              </a:rPr>
              <a:t>Pas de mémoire inter-sessions</a:t>
            </a:r>
            <a:endParaRPr b="0" lang="fr-FR" sz="1250" spc="-1" strike="noStrike">
              <a:latin typeface="Arial"/>
            </a:endParaRPr>
          </a:p>
        </p:txBody>
      </p:sp>
      <p:sp>
        <p:nvSpPr>
          <p:cNvPr id="92" name="Text 8"/>
          <p:cNvSpPr/>
          <p:nvPr/>
        </p:nvSpPr>
        <p:spPr>
          <a:xfrm>
            <a:off x="457200" y="3364920"/>
            <a:ext cx="3565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cfd8dc"/>
                </a:solidFill>
                <a:latin typeface="Calibri"/>
                <a:ea typeface="Calibri"/>
              </a:rPr>
              <a:t>•  </a:t>
            </a:r>
            <a:r>
              <a:rPr b="0" lang="en-US" sz="1250" spc="-1" strike="noStrike">
                <a:solidFill>
                  <a:srgbClr val="cfd8dc"/>
                </a:solidFill>
                <a:latin typeface="Calibri"/>
                <a:ea typeface="Calibri"/>
              </a:rPr>
              <a:t>Aucune action dans le monde</a:t>
            </a:r>
            <a:endParaRPr b="0" lang="fr-FR" sz="1250" spc="-1" strike="noStrike">
              <a:latin typeface="Arial"/>
            </a:endParaRPr>
          </a:p>
        </p:txBody>
      </p:sp>
      <p:sp>
        <p:nvSpPr>
          <p:cNvPr id="93" name="Text 9"/>
          <p:cNvSpPr/>
          <p:nvPr/>
        </p:nvSpPr>
        <p:spPr>
          <a:xfrm>
            <a:off x="457200" y="3749040"/>
            <a:ext cx="3565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cfd8dc"/>
                </a:solidFill>
                <a:latin typeface="Calibri"/>
                <a:ea typeface="Calibri"/>
              </a:rPr>
              <a:t>•  </a:t>
            </a:r>
            <a:r>
              <a:rPr b="0" lang="en-US" sz="1250" spc="-1" strike="noStrike">
                <a:solidFill>
                  <a:srgbClr val="cfd8dc"/>
                </a:solidFill>
                <a:latin typeface="Calibri"/>
                <a:ea typeface="Calibri"/>
              </a:rPr>
              <a:t>Raisonnement limité</a:t>
            </a:r>
            <a:endParaRPr b="0" lang="fr-FR" sz="1250" spc="-1" strike="noStrike">
              <a:latin typeface="Arial"/>
            </a:endParaRPr>
          </a:p>
        </p:txBody>
      </p:sp>
      <p:sp>
        <p:nvSpPr>
          <p:cNvPr id="94" name="Shape 10"/>
          <p:cNvSpPr/>
          <p:nvPr/>
        </p:nvSpPr>
        <p:spPr>
          <a:xfrm>
            <a:off x="4937760" y="1645920"/>
            <a:ext cx="3931560" cy="2651400"/>
          </a:xfrm>
          <a:prstGeom prst="roundRect">
            <a:avLst>
              <a:gd name="adj" fmla="val 4138"/>
            </a:avLst>
          </a:prstGeom>
          <a:solidFill>
            <a:srgbClr val="132b1a"/>
          </a:solidFill>
          <a:ln w="0">
            <a:noFill/>
          </a:ln>
          <a:effectLst>
            <a:outerShdw algn="bl" blurRad="12708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5" name="Text 11"/>
          <p:cNvSpPr/>
          <p:nvPr/>
        </p:nvSpPr>
        <p:spPr>
          <a:xfrm>
            <a:off x="5120640" y="1783080"/>
            <a:ext cx="356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4caf50"/>
                </a:solidFill>
                <a:latin typeface="Calibri"/>
                <a:ea typeface="Calibri"/>
              </a:rPr>
              <a:t>✅  </a:t>
            </a:r>
            <a:r>
              <a:rPr b="1" lang="en-US" sz="1500" spc="-1" strike="noStrike">
                <a:solidFill>
                  <a:srgbClr val="4caf50"/>
                </a:solidFill>
                <a:latin typeface="Calibri"/>
                <a:ea typeface="Calibri"/>
              </a:rPr>
              <a:t>Agent IA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96" name="Text 12"/>
          <p:cNvSpPr/>
          <p:nvPr/>
        </p:nvSpPr>
        <p:spPr>
          <a:xfrm>
            <a:off x="5120640" y="2212920"/>
            <a:ext cx="3565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cfd8dc"/>
                </a:solidFill>
                <a:latin typeface="Calibri"/>
                <a:ea typeface="Calibri"/>
              </a:rPr>
              <a:t>•  </a:t>
            </a:r>
            <a:r>
              <a:rPr b="0" lang="en-US" sz="1250" spc="-1" strike="noStrike">
                <a:solidFill>
                  <a:srgbClr val="cfd8dc"/>
                </a:solidFill>
                <a:latin typeface="Calibri"/>
                <a:ea typeface="Calibri"/>
              </a:rPr>
              <a:t>Raisonne avant d'agir (ReAct)</a:t>
            </a:r>
            <a:endParaRPr b="0" lang="fr-FR" sz="1250" spc="-1" strike="noStrike">
              <a:latin typeface="Arial"/>
            </a:endParaRPr>
          </a:p>
        </p:txBody>
      </p:sp>
      <p:sp>
        <p:nvSpPr>
          <p:cNvPr id="97" name="Text 13"/>
          <p:cNvSpPr/>
          <p:nvPr/>
        </p:nvSpPr>
        <p:spPr>
          <a:xfrm>
            <a:off x="5120640" y="2597040"/>
            <a:ext cx="3565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cfd8dc"/>
                </a:solidFill>
                <a:latin typeface="Calibri"/>
                <a:ea typeface="Calibri"/>
              </a:rPr>
              <a:t>•  </a:t>
            </a:r>
            <a:r>
              <a:rPr b="0" lang="en-US" sz="1250" spc="-1" strike="noStrike">
                <a:solidFill>
                  <a:srgbClr val="cfd8dc"/>
                </a:solidFill>
                <a:latin typeface="Calibri"/>
                <a:ea typeface="Calibri"/>
              </a:rPr>
              <a:t>Utilise des outils (Tools)</a:t>
            </a:r>
            <a:endParaRPr b="0" lang="fr-FR" sz="1250" spc="-1" strike="noStrike">
              <a:latin typeface="Arial"/>
            </a:endParaRPr>
          </a:p>
        </p:txBody>
      </p:sp>
      <p:sp>
        <p:nvSpPr>
          <p:cNvPr id="98" name="Text 14"/>
          <p:cNvSpPr/>
          <p:nvPr/>
        </p:nvSpPr>
        <p:spPr>
          <a:xfrm>
            <a:off x="5120640" y="2980800"/>
            <a:ext cx="3565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cfd8dc"/>
                </a:solidFill>
                <a:latin typeface="Calibri"/>
                <a:ea typeface="Calibri"/>
              </a:rPr>
              <a:t>•  </a:t>
            </a:r>
            <a:r>
              <a:rPr b="0" lang="en-US" sz="1250" spc="-1" strike="noStrike">
                <a:solidFill>
                  <a:srgbClr val="cfd8dc"/>
                </a:solidFill>
                <a:latin typeface="Calibri"/>
                <a:ea typeface="Calibri"/>
              </a:rPr>
              <a:t>Interroge des APIs externes</a:t>
            </a:r>
            <a:endParaRPr b="0" lang="fr-FR" sz="1250" spc="-1" strike="noStrike">
              <a:latin typeface="Arial"/>
            </a:endParaRPr>
          </a:p>
        </p:txBody>
      </p:sp>
      <p:sp>
        <p:nvSpPr>
          <p:cNvPr id="99" name="Text 15"/>
          <p:cNvSpPr/>
          <p:nvPr/>
        </p:nvSpPr>
        <p:spPr>
          <a:xfrm>
            <a:off x="5120640" y="3364920"/>
            <a:ext cx="3565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cfd8dc"/>
                </a:solidFill>
                <a:latin typeface="Calibri"/>
                <a:ea typeface="Calibri"/>
              </a:rPr>
              <a:t>•  </a:t>
            </a:r>
            <a:r>
              <a:rPr b="0" lang="en-US" sz="1250" spc="-1" strike="noStrike">
                <a:solidFill>
                  <a:srgbClr val="cfd8dc"/>
                </a:solidFill>
                <a:latin typeface="Calibri"/>
                <a:ea typeface="Calibri"/>
              </a:rPr>
              <a:t>Maintient un contexte mémoire</a:t>
            </a:r>
            <a:endParaRPr b="0" lang="fr-FR" sz="1250" spc="-1" strike="noStrike">
              <a:latin typeface="Arial"/>
            </a:endParaRPr>
          </a:p>
        </p:txBody>
      </p:sp>
      <p:sp>
        <p:nvSpPr>
          <p:cNvPr id="100" name="Text 16"/>
          <p:cNvSpPr/>
          <p:nvPr/>
        </p:nvSpPr>
        <p:spPr>
          <a:xfrm>
            <a:off x="5120640" y="3749040"/>
            <a:ext cx="3565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cfd8dc"/>
                </a:solidFill>
                <a:latin typeface="Calibri"/>
                <a:ea typeface="Calibri"/>
              </a:rPr>
              <a:t>•  </a:t>
            </a:r>
            <a:r>
              <a:rPr b="0" lang="en-US" sz="1250" spc="-1" strike="noStrike">
                <a:solidFill>
                  <a:srgbClr val="cfd8dc"/>
                </a:solidFill>
                <a:latin typeface="Calibri"/>
                <a:ea typeface="Calibri"/>
              </a:rPr>
              <a:t>Décide de manière autonome</a:t>
            </a:r>
            <a:endParaRPr b="0" lang="fr-FR" sz="1250" spc="-1" strike="noStrike">
              <a:latin typeface="Arial"/>
            </a:endParaRPr>
          </a:p>
        </p:txBody>
      </p:sp>
      <p:sp>
        <p:nvSpPr>
          <p:cNvPr id="101" name="Text 17"/>
          <p:cNvSpPr/>
          <p:nvPr/>
        </p:nvSpPr>
        <p:spPr>
          <a:xfrm>
            <a:off x="4206240" y="2606040"/>
            <a:ext cx="731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9a825"/>
                </a:solidFill>
                <a:latin typeface="Calibri"/>
                <a:ea typeface="Calibri"/>
              </a:rPr>
              <a:t>→</a:t>
            </a:r>
            <a:endParaRPr b="0" lang="fr-FR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0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1a47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Text 1"/>
          <p:cNvSpPr/>
          <p:nvPr/>
        </p:nvSpPr>
        <p:spPr>
          <a:xfrm>
            <a:off x="457200" y="9144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02 — Concepts d'IA Générative utilisés</a:t>
            </a:r>
            <a:endParaRPr b="0" lang="fr-FR" sz="2600" spc="-1" strike="noStrike">
              <a:latin typeface="Arial"/>
            </a:endParaRPr>
          </a:p>
        </p:txBody>
      </p:sp>
      <p:sp>
        <p:nvSpPr>
          <p:cNvPr id="104" name="Shape 2"/>
          <p:cNvSpPr/>
          <p:nvPr/>
        </p:nvSpPr>
        <p:spPr>
          <a:xfrm>
            <a:off x="228600" y="1051560"/>
            <a:ext cx="2742840" cy="1691280"/>
          </a:xfrm>
          <a:prstGeom prst="roundRect">
            <a:avLst>
              <a:gd name="adj" fmla="val 6486"/>
            </a:avLst>
          </a:prstGeom>
          <a:solidFill>
            <a:srgbClr val="132b1a"/>
          </a:solidFill>
          <a:ln w="0">
            <a:noFill/>
          </a:ln>
          <a:effectLst>
            <a:outerShdw algn="bl" blurRad="12708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105" name="Image 0" descr="preencoded.png"/>
          <p:cNvPicPr/>
          <p:nvPr/>
        </p:nvPicPr>
        <p:blipFill>
          <a:blip r:embed="rId1"/>
          <a:stretch/>
        </p:blipFill>
        <p:spPr>
          <a:xfrm>
            <a:off x="365760" y="1188720"/>
            <a:ext cx="347040" cy="347040"/>
          </a:xfrm>
          <a:prstGeom prst="rect">
            <a:avLst/>
          </a:prstGeom>
          <a:ln w="0">
            <a:noFill/>
          </a:ln>
        </p:spPr>
      </p:pic>
      <p:sp>
        <p:nvSpPr>
          <p:cNvPr id="106" name="Text 3"/>
          <p:cNvSpPr/>
          <p:nvPr/>
        </p:nvSpPr>
        <p:spPr>
          <a:xfrm>
            <a:off x="777240" y="1216080"/>
            <a:ext cx="20570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4caf50"/>
                </a:solidFill>
                <a:latin typeface="Calibri"/>
                <a:ea typeface="Calibri"/>
              </a:rPr>
              <a:t>ReAct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107" name="Text 4"/>
          <p:cNvSpPr/>
          <p:nvPr/>
        </p:nvSpPr>
        <p:spPr>
          <a:xfrm>
            <a:off x="393120" y="1600200"/>
            <a:ext cx="24138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cfd8dc"/>
                </a:solidFill>
                <a:latin typeface="Calibri"/>
                <a:ea typeface="Calibri"/>
              </a:rPr>
              <a:t>Reasoning + Acting : l'agent réfléchit, choisit un outil, observe le résultat, puis répond.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108" name="Shape 5"/>
          <p:cNvSpPr/>
          <p:nvPr/>
        </p:nvSpPr>
        <p:spPr>
          <a:xfrm>
            <a:off x="3154680" y="1051560"/>
            <a:ext cx="2742840" cy="1691280"/>
          </a:xfrm>
          <a:prstGeom prst="roundRect">
            <a:avLst>
              <a:gd name="adj" fmla="val 6486"/>
            </a:avLst>
          </a:prstGeom>
          <a:solidFill>
            <a:srgbClr val="132b1a"/>
          </a:solidFill>
          <a:ln w="0">
            <a:noFill/>
          </a:ln>
          <a:effectLst>
            <a:outerShdw algn="bl" blurRad="12708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109" name="Image 1" descr="preencoded.png"/>
          <p:cNvPicPr/>
          <p:nvPr/>
        </p:nvPicPr>
        <p:blipFill>
          <a:blip r:embed="rId2"/>
          <a:stretch/>
        </p:blipFill>
        <p:spPr>
          <a:xfrm>
            <a:off x="3291840" y="1188720"/>
            <a:ext cx="347040" cy="347040"/>
          </a:xfrm>
          <a:prstGeom prst="rect">
            <a:avLst/>
          </a:prstGeom>
          <a:ln w="0">
            <a:noFill/>
          </a:ln>
        </p:spPr>
      </p:pic>
      <p:sp>
        <p:nvSpPr>
          <p:cNvPr id="110" name="Text 6"/>
          <p:cNvSpPr/>
          <p:nvPr/>
        </p:nvSpPr>
        <p:spPr>
          <a:xfrm>
            <a:off x="3703320" y="1216080"/>
            <a:ext cx="20570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4caf50"/>
                </a:solidFill>
                <a:latin typeface="Calibri"/>
                <a:ea typeface="Calibri"/>
              </a:rPr>
              <a:t>Tools (Outils)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111" name="Text 7"/>
          <p:cNvSpPr/>
          <p:nvPr/>
        </p:nvSpPr>
        <p:spPr>
          <a:xfrm>
            <a:off x="3319200" y="1600200"/>
            <a:ext cx="24138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cfd8dc"/>
                </a:solidFill>
                <a:latin typeface="Calibri"/>
                <a:ea typeface="Calibri"/>
              </a:rPr>
              <a:t>Fonctions que l'agent peut appeler. Notre agent en possède 7 : 4 internes + 3 via API.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112" name="Shape 8"/>
          <p:cNvSpPr/>
          <p:nvPr/>
        </p:nvSpPr>
        <p:spPr>
          <a:xfrm>
            <a:off x="6080760" y="1051560"/>
            <a:ext cx="2742840" cy="1691280"/>
          </a:xfrm>
          <a:prstGeom prst="roundRect">
            <a:avLst>
              <a:gd name="adj" fmla="val 6486"/>
            </a:avLst>
          </a:prstGeom>
          <a:solidFill>
            <a:srgbClr val="132b1a"/>
          </a:solidFill>
          <a:ln w="0">
            <a:noFill/>
          </a:ln>
          <a:effectLst>
            <a:outerShdw algn="bl" blurRad="12708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113" name="Image 2" descr="preencoded.png"/>
          <p:cNvPicPr/>
          <p:nvPr/>
        </p:nvPicPr>
        <p:blipFill>
          <a:blip r:embed="rId3"/>
          <a:stretch/>
        </p:blipFill>
        <p:spPr>
          <a:xfrm>
            <a:off x="6217920" y="1188720"/>
            <a:ext cx="347040" cy="347040"/>
          </a:xfrm>
          <a:prstGeom prst="rect">
            <a:avLst/>
          </a:prstGeom>
          <a:ln w="0">
            <a:noFill/>
          </a:ln>
        </p:spPr>
      </p:pic>
      <p:sp>
        <p:nvSpPr>
          <p:cNvPr id="114" name="Text 9"/>
          <p:cNvSpPr/>
          <p:nvPr/>
        </p:nvSpPr>
        <p:spPr>
          <a:xfrm>
            <a:off x="6629400" y="1216080"/>
            <a:ext cx="20570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4caf50"/>
                </a:solidFill>
                <a:latin typeface="Calibri"/>
                <a:ea typeface="Calibri"/>
              </a:rPr>
              <a:t>Orchestration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115" name="Text 10"/>
          <p:cNvSpPr/>
          <p:nvPr/>
        </p:nvSpPr>
        <p:spPr>
          <a:xfrm>
            <a:off x="6245280" y="1600200"/>
            <a:ext cx="24138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cfd8dc"/>
                </a:solidFill>
                <a:latin typeface="Calibri"/>
                <a:ea typeface="Calibri"/>
              </a:rPr>
              <a:t>L'AgentExecutor de LangChain gère le cycle Thought → Action → Observation.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116" name="Shape 11"/>
          <p:cNvSpPr/>
          <p:nvPr/>
        </p:nvSpPr>
        <p:spPr>
          <a:xfrm>
            <a:off x="228600" y="2926080"/>
            <a:ext cx="2742840" cy="1691280"/>
          </a:xfrm>
          <a:prstGeom prst="roundRect">
            <a:avLst>
              <a:gd name="adj" fmla="val 6486"/>
            </a:avLst>
          </a:prstGeom>
          <a:solidFill>
            <a:srgbClr val="132b1a"/>
          </a:solidFill>
          <a:ln w="0">
            <a:noFill/>
          </a:ln>
          <a:effectLst>
            <a:outerShdw algn="bl" blurRad="12708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117" name="Image 3" descr="preencoded.png"/>
          <p:cNvPicPr/>
          <p:nvPr/>
        </p:nvPicPr>
        <p:blipFill>
          <a:blip r:embed="rId4"/>
          <a:stretch/>
        </p:blipFill>
        <p:spPr>
          <a:xfrm>
            <a:off x="365760" y="3063240"/>
            <a:ext cx="347040" cy="347040"/>
          </a:xfrm>
          <a:prstGeom prst="rect">
            <a:avLst/>
          </a:prstGeom>
          <a:ln w="0">
            <a:noFill/>
          </a:ln>
        </p:spPr>
      </p:pic>
      <p:sp>
        <p:nvSpPr>
          <p:cNvPr id="118" name="Text 12"/>
          <p:cNvSpPr/>
          <p:nvPr/>
        </p:nvSpPr>
        <p:spPr>
          <a:xfrm>
            <a:off x="777240" y="3090600"/>
            <a:ext cx="20570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4caf50"/>
                </a:solidFill>
                <a:latin typeface="Calibri"/>
                <a:ea typeface="Calibri"/>
              </a:rPr>
              <a:t>Mémoire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119" name="Text 13"/>
          <p:cNvSpPr/>
          <p:nvPr/>
        </p:nvSpPr>
        <p:spPr>
          <a:xfrm>
            <a:off x="393120" y="3474720"/>
            <a:ext cx="24138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cfd8dc"/>
                </a:solidFill>
                <a:latin typeface="Calibri"/>
                <a:ea typeface="Calibri"/>
              </a:rPr>
              <a:t>ConversationBufferWindowMemory : l'agent retient les 10 derniers échanges.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120" name="Shape 14"/>
          <p:cNvSpPr/>
          <p:nvPr/>
        </p:nvSpPr>
        <p:spPr>
          <a:xfrm>
            <a:off x="3154680" y="2926080"/>
            <a:ext cx="2742840" cy="1691280"/>
          </a:xfrm>
          <a:prstGeom prst="roundRect">
            <a:avLst>
              <a:gd name="adj" fmla="val 6486"/>
            </a:avLst>
          </a:prstGeom>
          <a:solidFill>
            <a:srgbClr val="132b1a"/>
          </a:solidFill>
          <a:ln w="0">
            <a:noFill/>
          </a:ln>
          <a:effectLst>
            <a:outerShdw algn="bl" blurRad="12708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121" name="Image 4" descr="preencoded.png"/>
          <p:cNvPicPr/>
          <p:nvPr/>
        </p:nvPicPr>
        <p:blipFill>
          <a:blip r:embed="rId5"/>
          <a:stretch/>
        </p:blipFill>
        <p:spPr>
          <a:xfrm>
            <a:off x="3291840" y="3063240"/>
            <a:ext cx="347040" cy="347040"/>
          </a:xfrm>
          <a:prstGeom prst="rect">
            <a:avLst/>
          </a:prstGeom>
          <a:ln w="0">
            <a:noFill/>
          </a:ln>
        </p:spPr>
      </p:pic>
      <p:sp>
        <p:nvSpPr>
          <p:cNvPr id="122" name="Text 15"/>
          <p:cNvSpPr/>
          <p:nvPr/>
        </p:nvSpPr>
        <p:spPr>
          <a:xfrm>
            <a:off x="3703320" y="3090600"/>
            <a:ext cx="20570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4caf50"/>
                </a:solidFill>
                <a:latin typeface="Calibri"/>
                <a:ea typeface="Calibri"/>
              </a:rPr>
              <a:t>MCP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123" name="Text 16"/>
          <p:cNvSpPr/>
          <p:nvPr/>
        </p:nvSpPr>
        <p:spPr>
          <a:xfrm>
            <a:off x="3319200" y="3474720"/>
            <a:ext cx="24138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cfd8dc"/>
                </a:solidFill>
                <a:latin typeface="Calibri"/>
                <a:ea typeface="Calibri"/>
              </a:rPr>
              <a:t>Model Context Protocol : structuration du contexte (outils, historique, instructions) fourni au LLM.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124" name="Shape 17"/>
          <p:cNvSpPr/>
          <p:nvPr/>
        </p:nvSpPr>
        <p:spPr>
          <a:xfrm>
            <a:off x="6080760" y="2926080"/>
            <a:ext cx="2742840" cy="1691280"/>
          </a:xfrm>
          <a:prstGeom prst="roundRect">
            <a:avLst>
              <a:gd name="adj" fmla="val 6486"/>
            </a:avLst>
          </a:prstGeom>
          <a:solidFill>
            <a:srgbClr val="132b1a"/>
          </a:solidFill>
          <a:ln w="0">
            <a:noFill/>
          </a:ln>
          <a:effectLst>
            <a:outerShdw algn="bl" blurRad="12708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125" name="Image 5" descr="preencoded.png"/>
          <p:cNvPicPr/>
          <p:nvPr/>
        </p:nvPicPr>
        <p:blipFill>
          <a:blip r:embed="rId6"/>
          <a:stretch/>
        </p:blipFill>
        <p:spPr>
          <a:xfrm>
            <a:off x="6217920" y="3063240"/>
            <a:ext cx="347040" cy="347040"/>
          </a:xfrm>
          <a:prstGeom prst="rect">
            <a:avLst/>
          </a:prstGeom>
          <a:ln w="0">
            <a:noFill/>
          </a:ln>
        </p:spPr>
      </p:pic>
      <p:sp>
        <p:nvSpPr>
          <p:cNvPr id="126" name="Text 18"/>
          <p:cNvSpPr/>
          <p:nvPr/>
        </p:nvSpPr>
        <p:spPr>
          <a:xfrm>
            <a:off x="6629400" y="3090600"/>
            <a:ext cx="20570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4caf50"/>
                </a:solidFill>
                <a:latin typeface="Calibri"/>
                <a:ea typeface="Calibri"/>
              </a:rPr>
              <a:t>LLM via API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127" name="Text 19"/>
          <p:cNvSpPr/>
          <p:nvPr/>
        </p:nvSpPr>
        <p:spPr>
          <a:xfrm>
            <a:off x="6245280" y="3474720"/>
            <a:ext cx="24138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cfd8dc"/>
                </a:solidFill>
                <a:latin typeface="Calibri"/>
                <a:ea typeface="Calibri"/>
              </a:rPr>
              <a:t>Groq LLaMA 3.3 70B : modèle de langage rapide et gratuit utilisé comme cerveau de l'agent.</a:t>
            </a:r>
            <a:endParaRPr b="0" lang="fr-F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hape 0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1a47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9" name="Text 1"/>
          <p:cNvSpPr/>
          <p:nvPr/>
        </p:nvSpPr>
        <p:spPr>
          <a:xfrm>
            <a:off x="457200" y="9144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03 — Notre Projet : Football Scout Agent</a:t>
            </a:r>
            <a:endParaRPr b="0" lang="fr-FR" sz="2600" spc="-1" strike="noStrike">
              <a:latin typeface="Arial"/>
            </a:endParaRPr>
          </a:p>
        </p:txBody>
      </p:sp>
      <p:pic>
        <p:nvPicPr>
          <p:cNvPr id="130" name="Image 0" descr="preencoded.png"/>
          <p:cNvPicPr/>
          <p:nvPr/>
        </p:nvPicPr>
        <p:blipFill>
          <a:blip r:embed="rId1"/>
          <a:stretch/>
        </p:blipFill>
        <p:spPr>
          <a:xfrm>
            <a:off x="365760" y="105156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131" name="Text 2"/>
          <p:cNvSpPr/>
          <p:nvPr/>
        </p:nvSpPr>
        <p:spPr>
          <a:xfrm>
            <a:off x="1005840" y="1097280"/>
            <a:ext cx="7772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9a825"/>
                </a:solidFill>
                <a:latin typeface="Calibri"/>
                <a:ea typeface="Calibri"/>
              </a:rPr>
              <a:t>Objectif : un scout IA pour le football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132" name="Text 3"/>
          <p:cNvSpPr/>
          <p:nvPr/>
        </p:nvSpPr>
        <p:spPr>
          <a:xfrm>
            <a:off x="457200" y="162756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a5d6a7"/>
                </a:solidFill>
                <a:latin typeface="Calibri"/>
                <a:ea typeface="Calibri"/>
              </a:rPr>
              <a:t>L'utilisateur pose une question en langage naturel → l'agent raisonne → choisit le bon outil → retourne une réponse enrichie.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133" name="Shape 4"/>
          <p:cNvSpPr/>
          <p:nvPr/>
        </p:nvSpPr>
        <p:spPr>
          <a:xfrm>
            <a:off x="274320" y="2240280"/>
            <a:ext cx="2788560" cy="529920"/>
          </a:xfrm>
          <a:prstGeom prst="roundRect">
            <a:avLst>
              <a:gd name="adj" fmla="val 17241"/>
            </a:avLst>
          </a:prstGeom>
          <a:solidFill>
            <a:srgbClr val="132b1a"/>
          </a:solidFill>
          <a:ln w="0">
            <a:noFill/>
          </a:ln>
          <a:effectLst>
            <a:outerShdw algn="bl" blurRad="12708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4" name="Text 5"/>
          <p:cNvSpPr/>
          <p:nvPr/>
        </p:nvSpPr>
        <p:spPr>
          <a:xfrm>
            <a:off x="384120" y="2240280"/>
            <a:ext cx="25599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"Stats de Mbappé cette saison ?"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135" name="Shape 6"/>
          <p:cNvSpPr/>
          <p:nvPr/>
        </p:nvSpPr>
        <p:spPr>
          <a:xfrm>
            <a:off x="3200400" y="2240280"/>
            <a:ext cx="2788560" cy="529920"/>
          </a:xfrm>
          <a:prstGeom prst="roundRect">
            <a:avLst>
              <a:gd name="adj" fmla="val 17241"/>
            </a:avLst>
          </a:prstGeom>
          <a:solidFill>
            <a:srgbClr val="132b1a"/>
          </a:solidFill>
          <a:ln w="0">
            <a:noFill/>
          </a:ln>
          <a:effectLst>
            <a:outerShdw algn="bl" blurRad="12708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6" name="Text 7"/>
          <p:cNvSpPr/>
          <p:nvPr/>
        </p:nvSpPr>
        <p:spPr>
          <a:xfrm>
            <a:off x="3310200" y="2240280"/>
            <a:ext cx="25599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"Compare Haaland et Salah"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137" name="Shape 8"/>
          <p:cNvSpPr/>
          <p:nvPr/>
        </p:nvSpPr>
        <p:spPr>
          <a:xfrm>
            <a:off x="6126480" y="2240280"/>
            <a:ext cx="2788560" cy="529920"/>
          </a:xfrm>
          <a:prstGeom prst="roundRect">
            <a:avLst>
              <a:gd name="adj" fmla="val 17241"/>
            </a:avLst>
          </a:prstGeom>
          <a:solidFill>
            <a:srgbClr val="132b1a"/>
          </a:solidFill>
          <a:ln w="0">
            <a:noFill/>
          </a:ln>
          <a:effectLst>
            <a:outerShdw algn="bl" blurRad="12708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8" name="Text 9"/>
          <p:cNvSpPr/>
          <p:nvPr/>
        </p:nvSpPr>
        <p:spPr>
          <a:xfrm>
            <a:off x="6236280" y="2240280"/>
            <a:ext cx="25599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"Top 5 buteurs en PL"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139" name="Shape 10"/>
          <p:cNvSpPr/>
          <p:nvPr/>
        </p:nvSpPr>
        <p:spPr>
          <a:xfrm>
            <a:off x="274320" y="2926080"/>
            <a:ext cx="2788560" cy="529920"/>
          </a:xfrm>
          <a:prstGeom prst="roundRect">
            <a:avLst>
              <a:gd name="adj" fmla="val 17241"/>
            </a:avLst>
          </a:prstGeom>
          <a:solidFill>
            <a:srgbClr val="132b1a"/>
          </a:solidFill>
          <a:ln w="0">
            <a:noFill/>
          </a:ln>
          <a:effectLst>
            <a:outerShdw algn="bl" blurRad="12708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0" name="Text 11"/>
          <p:cNvSpPr/>
          <p:nvPr/>
        </p:nvSpPr>
        <p:spPr>
          <a:xfrm>
            <a:off x="384120" y="2926080"/>
            <a:ext cx="25599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"Classement La Liga"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141" name="Shape 12"/>
          <p:cNvSpPr/>
          <p:nvPr/>
        </p:nvSpPr>
        <p:spPr>
          <a:xfrm>
            <a:off x="3200400" y="2926080"/>
            <a:ext cx="2788560" cy="529920"/>
          </a:xfrm>
          <a:prstGeom prst="roundRect">
            <a:avLst>
              <a:gd name="adj" fmla="val 17241"/>
            </a:avLst>
          </a:prstGeom>
          <a:solidFill>
            <a:srgbClr val="132b1a"/>
          </a:solidFill>
          <a:ln w="0">
            <a:noFill/>
          </a:ln>
          <a:effectLst>
            <a:outerShdw algn="bl" blurRad="12708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2" name="Text 13"/>
          <p:cNvSpPr/>
          <p:nvPr/>
        </p:nvSpPr>
        <p:spPr>
          <a:xfrm>
            <a:off x="3310200" y="2926080"/>
            <a:ext cx="25599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"Matchs en direct ?"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143" name="Shape 14"/>
          <p:cNvSpPr/>
          <p:nvPr/>
        </p:nvSpPr>
        <p:spPr>
          <a:xfrm>
            <a:off x="6126480" y="2926080"/>
            <a:ext cx="2788560" cy="529920"/>
          </a:xfrm>
          <a:prstGeom prst="roundRect">
            <a:avLst>
              <a:gd name="adj" fmla="val 17241"/>
            </a:avLst>
          </a:prstGeom>
          <a:solidFill>
            <a:srgbClr val="132b1a"/>
          </a:solidFill>
          <a:ln w="0">
            <a:noFill/>
          </a:ln>
          <a:effectLst>
            <a:outerShdw algn="bl" blurRad="12708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4" name="Text 15"/>
          <p:cNvSpPr/>
          <p:nvPr/>
        </p:nvSpPr>
        <p:spPr>
          <a:xfrm>
            <a:off x="6236280" y="2926080"/>
            <a:ext cx="25599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"Attaquants avec + de 20 buts"</a:t>
            </a:r>
            <a:endParaRPr b="0" lang="fr-F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0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1a47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6" name="Text 1"/>
          <p:cNvSpPr/>
          <p:nvPr/>
        </p:nvSpPr>
        <p:spPr>
          <a:xfrm>
            <a:off x="457200" y="9144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04 — Architecture du système</a:t>
            </a:r>
            <a:endParaRPr b="0" lang="fr-FR" sz="2600" spc="-1" strike="noStrike">
              <a:latin typeface="Arial"/>
            </a:endParaRPr>
          </a:p>
        </p:txBody>
      </p:sp>
      <p:sp>
        <p:nvSpPr>
          <p:cNvPr id="147" name="Shape 2"/>
          <p:cNvSpPr/>
          <p:nvPr/>
        </p:nvSpPr>
        <p:spPr>
          <a:xfrm>
            <a:off x="137160" y="1325880"/>
            <a:ext cx="1645560" cy="1096920"/>
          </a:xfrm>
          <a:prstGeom prst="roundRect">
            <a:avLst>
              <a:gd name="adj" fmla="val 10000"/>
            </a:avLst>
          </a:prstGeom>
          <a:solidFill>
            <a:srgbClr val="37474f"/>
          </a:solidFill>
          <a:ln w="0">
            <a:noFill/>
          </a:ln>
          <a:effectLst>
            <a:outerShdw algn="bl" blurRad="12708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8" name="Text 3"/>
          <p:cNvSpPr/>
          <p:nvPr/>
        </p:nvSpPr>
        <p:spPr>
          <a:xfrm>
            <a:off x="137160" y="1417320"/>
            <a:ext cx="1645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👤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Utilisateur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149" name="Text 4"/>
          <p:cNvSpPr/>
          <p:nvPr/>
        </p:nvSpPr>
        <p:spPr>
          <a:xfrm>
            <a:off x="137160" y="1856160"/>
            <a:ext cx="1645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0e0e0"/>
                </a:solidFill>
                <a:latin typeface="Calibri"/>
                <a:ea typeface="Calibri"/>
              </a:rPr>
              <a:t>Question en</a:t>
            </a:r>
            <a:endParaRPr b="0" lang="fr-FR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0e0e0"/>
                </a:solidFill>
                <a:latin typeface="Calibri"/>
                <a:ea typeface="Calibri"/>
              </a:rPr>
              <a:t>langage naturel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150" name="Text 5"/>
          <p:cNvSpPr/>
          <p:nvPr/>
        </p:nvSpPr>
        <p:spPr>
          <a:xfrm>
            <a:off x="1783080" y="1645920"/>
            <a:ext cx="273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1a472a"/>
                </a:solidFill>
                <a:latin typeface="Calibri"/>
                <a:ea typeface="Calibri"/>
              </a:rPr>
              <a:t>→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151" name="Shape 6"/>
          <p:cNvSpPr/>
          <p:nvPr/>
        </p:nvSpPr>
        <p:spPr>
          <a:xfrm>
            <a:off x="1920240" y="1325880"/>
            <a:ext cx="1645560" cy="1096920"/>
          </a:xfrm>
          <a:prstGeom prst="roundRect">
            <a:avLst>
              <a:gd name="adj" fmla="val 10000"/>
            </a:avLst>
          </a:prstGeom>
          <a:solidFill>
            <a:srgbClr val="1a472a"/>
          </a:solidFill>
          <a:ln w="0">
            <a:noFill/>
          </a:ln>
          <a:effectLst>
            <a:outerShdw algn="bl" blurRad="12708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2" name="Text 7"/>
          <p:cNvSpPr/>
          <p:nvPr/>
        </p:nvSpPr>
        <p:spPr>
          <a:xfrm>
            <a:off x="1920240" y="1417320"/>
            <a:ext cx="1645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🧠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LLM (Groq)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153" name="Text 8"/>
          <p:cNvSpPr/>
          <p:nvPr/>
        </p:nvSpPr>
        <p:spPr>
          <a:xfrm>
            <a:off x="1920240" y="1856160"/>
            <a:ext cx="1645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0e0e0"/>
                </a:solidFill>
                <a:latin typeface="Calibri"/>
                <a:ea typeface="Calibri"/>
              </a:rPr>
              <a:t>LLaMA 3.3 70B</a:t>
            </a:r>
            <a:endParaRPr b="0" lang="fr-FR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0e0e0"/>
                </a:solidFill>
                <a:latin typeface="Calibri"/>
                <a:ea typeface="Calibri"/>
              </a:rPr>
              <a:t>Raisonnement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154" name="Text 9"/>
          <p:cNvSpPr/>
          <p:nvPr/>
        </p:nvSpPr>
        <p:spPr>
          <a:xfrm>
            <a:off x="3566160" y="1645920"/>
            <a:ext cx="273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1a472a"/>
                </a:solidFill>
                <a:latin typeface="Calibri"/>
                <a:ea typeface="Calibri"/>
              </a:rPr>
              <a:t>→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155" name="Shape 10"/>
          <p:cNvSpPr/>
          <p:nvPr/>
        </p:nvSpPr>
        <p:spPr>
          <a:xfrm>
            <a:off x="3703320" y="1325880"/>
            <a:ext cx="1645560" cy="1096920"/>
          </a:xfrm>
          <a:prstGeom prst="roundRect">
            <a:avLst>
              <a:gd name="adj" fmla="val 10000"/>
            </a:avLst>
          </a:prstGeom>
          <a:solidFill>
            <a:srgbClr val="1565c0"/>
          </a:solidFill>
          <a:ln w="0">
            <a:noFill/>
          </a:ln>
          <a:effectLst>
            <a:outerShdw algn="bl" blurRad="12708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6" name="Text 11"/>
          <p:cNvSpPr/>
          <p:nvPr/>
        </p:nvSpPr>
        <p:spPr>
          <a:xfrm>
            <a:off x="3703320" y="1417320"/>
            <a:ext cx="1645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⚙️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AgentExecutor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157" name="Text 12"/>
          <p:cNvSpPr/>
          <p:nvPr/>
        </p:nvSpPr>
        <p:spPr>
          <a:xfrm>
            <a:off x="3703320" y="1856160"/>
            <a:ext cx="1645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0e0e0"/>
                </a:solidFill>
                <a:latin typeface="Calibri"/>
                <a:ea typeface="Calibri"/>
              </a:rPr>
              <a:t>LangChain</a:t>
            </a:r>
            <a:endParaRPr b="0" lang="fr-FR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0e0e0"/>
                </a:solidFill>
                <a:latin typeface="Calibri"/>
                <a:ea typeface="Calibri"/>
              </a:rPr>
              <a:t>Orchestration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158" name="Text 13"/>
          <p:cNvSpPr/>
          <p:nvPr/>
        </p:nvSpPr>
        <p:spPr>
          <a:xfrm>
            <a:off x="5349240" y="1645920"/>
            <a:ext cx="273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1a472a"/>
                </a:solidFill>
                <a:latin typeface="Calibri"/>
                <a:ea typeface="Calibri"/>
              </a:rPr>
              <a:t>→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159" name="Shape 14"/>
          <p:cNvSpPr/>
          <p:nvPr/>
        </p:nvSpPr>
        <p:spPr>
          <a:xfrm>
            <a:off x="5486400" y="1325880"/>
            <a:ext cx="1645560" cy="1096920"/>
          </a:xfrm>
          <a:prstGeom prst="roundRect">
            <a:avLst>
              <a:gd name="adj" fmla="val 10000"/>
            </a:avLst>
          </a:prstGeom>
          <a:solidFill>
            <a:srgbClr val="6a1b9a"/>
          </a:solidFill>
          <a:ln w="0">
            <a:noFill/>
          </a:ln>
          <a:effectLst>
            <a:outerShdw algn="bl" blurRad="12708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0" name="Text 15"/>
          <p:cNvSpPr/>
          <p:nvPr/>
        </p:nvSpPr>
        <p:spPr>
          <a:xfrm>
            <a:off x="5486400" y="1417320"/>
            <a:ext cx="1645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🔧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Tools (×7)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161" name="Text 16"/>
          <p:cNvSpPr/>
          <p:nvPr/>
        </p:nvSpPr>
        <p:spPr>
          <a:xfrm>
            <a:off x="5486400" y="1856160"/>
            <a:ext cx="1645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0e0e0"/>
                </a:solidFill>
                <a:latin typeface="Calibri"/>
                <a:ea typeface="Calibri"/>
              </a:rPr>
              <a:t>4 internes</a:t>
            </a:r>
            <a:endParaRPr b="0" lang="fr-FR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0e0e0"/>
                </a:solidFill>
                <a:latin typeface="Calibri"/>
                <a:ea typeface="Calibri"/>
              </a:rPr>
              <a:t>3 via API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162" name="Text 17"/>
          <p:cNvSpPr/>
          <p:nvPr/>
        </p:nvSpPr>
        <p:spPr>
          <a:xfrm>
            <a:off x="7132320" y="1645920"/>
            <a:ext cx="273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1a472a"/>
                </a:solidFill>
                <a:latin typeface="Calibri"/>
                <a:ea typeface="Calibri"/>
              </a:rPr>
              <a:t>→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163" name="Shape 18"/>
          <p:cNvSpPr/>
          <p:nvPr/>
        </p:nvSpPr>
        <p:spPr>
          <a:xfrm>
            <a:off x="7269480" y="1325880"/>
            <a:ext cx="1645560" cy="1096920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 w="0">
            <a:noFill/>
          </a:ln>
          <a:effectLst>
            <a:outerShdw algn="bl" blurRad="12708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4" name="Text 19"/>
          <p:cNvSpPr/>
          <p:nvPr/>
        </p:nvSpPr>
        <p:spPr>
          <a:xfrm>
            <a:off x="7269480" y="1417320"/>
            <a:ext cx="1645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✅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Réponse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165" name="Text 20"/>
          <p:cNvSpPr/>
          <p:nvPr/>
        </p:nvSpPr>
        <p:spPr>
          <a:xfrm>
            <a:off x="7269480" y="1856160"/>
            <a:ext cx="1645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0e0e0"/>
                </a:solidFill>
                <a:latin typeface="Calibri"/>
                <a:ea typeface="Calibri"/>
              </a:rPr>
              <a:t>Structurée</a:t>
            </a:r>
            <a:endParaRPr b="0" lang="fr-FR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0e0e0"/>
                </a:solidFill>
                <a:latin typeface="Calibri"/>
                <a:ea typeface="Calibri"/>
              </a:rPr>
              <a:t>enrichie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166" name="Text 21"/>
          <p:cNvSpPr/>
          <p:nvPr/>
        </p:nvSpPr>
        <p:spPr>
          <a:xfrm>
            <a:off x="274320" y="2743200"/>
            <a:ext cx="4114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1a472a"/>
                </a:solidFill>
                <a:latin typeface="Calibri"/>
                <a:ea typeface="Calibri"/>
              </a:rPr>
              <a:t>Tools internes (DB locale)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167" name="Shape 22"/>
          <p:cNvSpPr/>
          <p:nvPr/>
        </p:nvSpPr>
        <p:spPr>
          <a:xfrm>
            <a:off x="274320" y="3108960"/>
            <a:ext cx="1828440" cy="456840"/>
          </a:xfrm>
          <a:prstGeom prst="roundRect">
            <a:avLst>
              <a:gd name="adj" fmla="val 16000"/>
            </a:avLst>
          </a:prstGeom>
          <a:solidFill>
            <a:srgbClr val="1a47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8" name="Text 23"/>
          <p:cNvSpPr/>
          <p:nvPr/>
        </p:nvSpPr>
        <p:spPr>
          <a:xfrm>
            <a:off x="274320" y="310896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search_player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169" name="Shape 24"/>
          <p:cNvSpPr/>
          <p:nvPr/>
        </p:nvSpPr>
        <p:spPr>
          <a:xfrm>
            <a:off x="2286000" y="3108960"/>
            <a:ext cx="1828440" cy="456840"/>
          </a:xfrm>
          <a:prstGeom prst="roundRect">
            <a:avLst>
              <a:gd name="adj" fmla="val 16000"/>
            </a:avLst>
          </a:prstGeom>
          <a:solidFill>
            <a:srgbClr val="1a47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0" name="Text 25"/>
          <p:cNvSpPr/>
          <p:nvPr/>
        </p:nvSpPr>
        <p:spPr>
          <a:xfrm>
            <a:off x="2286000" y="310896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filter_players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171" name="Shape 26"/>
          <p:cNvSpPr/>
          <p:nvPr/>
        </p:nvSpPr>
        <p:spPr>
          <a:xfrm>
            <a:off x="4297680" y="3108960"/>
            <a:ext cx="1828440" cy="456840"/>
          </a:xfrm>
          <a:prstGeom prst="roundRect">
            <a:avLst>
              <a:gd name="adj" fmla="val 16000"/>
            </a:avLst>
          </a:prstGeom>
          <a:solidFill>
            <a:srgbClr val="1a47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2" name="Text 27"/>
          <p:cNvSpPr/>
          <p:nvPr/>
        </p:nvSpPr>
        <p:spPr>
          <a:xfrm>
            <a:off x="4297680" y="310896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compare_players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173" name="Shape 28"/>
          <p:cNvSpPr/>
          <p:nvPr/>
        </p:nvSpPr>
        <p:spPr>
          <a:xfrm>
            <a:off x="6309360" y="3108960"/>
            <a:ext cx="1828440" cy="456840"/>
          </a:xfrm>
          <a:prstGeom prst="roundRect">
            <a:avLst>
              <a:gd name="adj" fmla="val 16000"/>
            </a:avLst>
          </a:prstGeom>
          <a:solidFill>
            <a:srgbClr val="1a47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4" name="Text 29"/>
          <p:cNvSpPr/>
          <p:nvPr/>
        </p:nvSpPr>
        <p:spPr>
          <a:xfrm>
            <a:off x="6309360" y="310896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top_players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175" name="Text 30"/>
          <p:cNvSpPr/>
          <p:nvPr/>
        </p:nvSpPr>
        <p:spPr>
          <a:xfrm>
            <a:off x="274320" y="370332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6a1b9a"/>
                </a:solidFill>
                <a:latin typeface="Calibri"/>
                <a:ea typeface="Calibri"/>
              </a:rPr>
              <a:t>Tools externes (API Football)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176" name="Shape 31"/>
          <p:cNvSpPr/>
          <p:nvPr/>
        </p:nvSpPr>
        <p:spPr>
          <a:xfrm>
            <a:off x="274320" y="4069080"/>
            <a:ext cx="2605680" cy="456840"/>
          </a:xfrm>
          <a:prstGeom prst="roundRect">
            <a:avLst>
              <a:gd name="adj" fmla="val 16000"/>
            </a:avLst>
          </a:prstGeom>
          <a:solidFill>
            <a:srgbClr val="6a1b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7" name="Text 32"/>
          <p:cNvSpPr/>
          <p:nvPr/>
        </p:nvSpPr>
        <p:spPr>
          <a:xfrm>
            <a:off x="274320" y="4069080"/>
            <a:ext cx="2605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get_live_matches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178" name="Shape 33"/>
          <p:cNvSpPr/>
          <p:nvPr/>
        </p:nvSpPr>
        <p:spPr>
          <a:xfrm>
            <a:off x="3108960" y="4069080"/>
            <a:ext cx="2605680" cy="456840"/>
          </a:xfrm>
          <a:prstGeom prst="roundRect">
            <a:avLst>
              <a:gd name="adj" fmla="val 16000"/>
            </a:avLst>
          </a:prstGeom>
          <a:solidFill>
            <a:srgbClr val="6a1b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Text 34"/>
          <p:cNvSpPr/>
          <p:nvPr/>
        </p:nvSpPr>
        <p:spPr>
          <a:xfrm>
            <a:off x="3108960" y="4069080"/>
            <a:ext cx="2605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get_league_standings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180" name="Shape 35"/>
          <p:cNvSpPr/>
          <p:nvPr/>
        </p:nvSpPr>
        <p:spPr>
          <a:xfrm>
            <a:off x="5943600" y="4069080"/>
            <a:ext cx="2605680" cy="456840"/>
          </a:xfrm>
          <a:prstGeom prst="roundRect">
            <a:avLst>
              <a:gd name="adj" fmla="val 16000"/>
            </a:avLst>
          </a:prstGeom>
          <a:solidFill>
            <a:srgbClr val="6a1b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1" name="Text 36"/>
          <p:cNvSpPr/>
          <p:nvPr/>
        </p:nvSpPr>
        <p:spPr>
          <a:xfrm>
            <a:off x="5943600" y="4069080"/>
            <a:ext cx="2605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get_recent_matches</a:t>
            </a:r>
            <a:endParaRPr b="0" lang="fr-FR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0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1a47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3" name="Text 1"/>
          <p:cNvSpPr/>
          <p:nvPr/>
        </p:nvSpPr>
        <p:spPr>
          <a:xfrm>
            <a:off x="457200" y="9144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04 — Outils &amp; Technologies</a:t>
            </a:r>
            <a:endParaRPr b="0" lang="fr-FR" sz="2600" spc="-1" strike="noStrike">
              <a:latin typeface="Arial"/>
            </a:endParaRPr>
          </a:p>
        </p:txBody>
      </p:sp>
      <p:sp>
        <p:nvSpPr>
          <p:cNvPr id="184" name="Shape 2"/>
          <p:cNvSpPr/>
          <p:nvPr/>
        </p:nvSpPr>
        <p:spPr>
          <a:xfrm>
            <a:off x="274320" y="1051560"/>
            <a:ext cx="4114440" cy="1051200"/>
          </a:xfrm>
          <a:prstGeom prst="roundRect">
            <a:avLst>
              <a:gd name="adj" fmla="val 8696"/>
            </a:avLst>
          </a:prstGeom>
          <a:solidFill>
            <a:srgbClr val="132b1a"/>
          </a:solidFill>
          <a:ln w="0">
            <a:noFill/>
          </a:ln>
          <a:effectLst>
            <a:outerShdw algn="bl" blurRad="12708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5" name="Shape 3"/>
          <p:cNvSpPr/>
          <p:nvPr/>
        </p:nvSpPr>
        <p:spPr>
          <a:xfrm>
            <a:off x="384120" y="1280160"/>
            <a:ext cx="72720" cy="594000"/>
          </a:xfrm>
          <a:prstGeom prst="roundRect">
            <a:avLst>
              <a:gd name="adj" fmla="val 16667"/>
            </a:avLst>
          </a:prstGeom>
          <a:solidFill>
            <a:srgbClr val="4caf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6" name="Text 4"/>
          <p:cNvSpPr/>
          <p:nvPr/>
        </p:nvSpPr>
        <p:spPr>
          <a:xfrm>
            <a:off x="594360" y="1161360"/>
            <a:ext cx="3565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4caf50"/>
                </a:solidFill>
                <a:latin typeface="Calibri"/>
                <a:ea typeface="Calibri"/>
              </a:rPr>
              <a:t>Python 3.11+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187" name="Text 5"/>
          <p:cNvSpPr/>
          <p:nvPr/>
        </p:nvSpPr>
        <p:spPr>
          <a:xfrm>
            <a:off x="594360" y="1581840"/>
            <a:ext cx="3565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cfd8dc"/>
                </a:solidFill>
                <a:latin typeface="Calibri"/>
                <a:ea typeface="Calibri"/>
              </a:rPr>
              <a:t>Langage principal du projet</a:t>
            </a:r>
            <a:endParaRPr b="0" lang="fr-FR" sz="1250" spc="-1" strike="noStrike">
              <a:latin typeface="Arial"/>
            </a:endParaRPr>
          </a:p>
        </p:txBody>
      </p:sp>
      <p:sp>
        <p:nvSpPr>
          <p:cNvPr id="188" name="Shape 6"/>
          <p:cNvSpPr/>
          <p:nvPr/>
        </p:nvSpPr>
        <p:spPr>
          <a:xfrm>
            <a:off x="4709160" y="1051560"/>
            <a:ext cx="4114440" cy="1051200"/>
          </a:xfrm>
          <a:prstGeom prst="roundRect">
            <a:avLst>
              <a:gd name="adj" fmla="val 8696"/>
            </a:avLst>
          </a:prstGeom>
          <a:solidFill>
            <a:srgbClr val="132b1a"/>
          </a:solidFill>
          <a:ln w="0">
            <a:noFill/>
          </a:ln>
          <a:effectLst>
            <a:outerShdw algn="bl" blurRad="12708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9" name="Shape 7"/>
          <p:cNvSpPr/>
          <p:nvPr/>
        </p:nvSpPr>
        <p:spPr>
          <a:xfrm>
            <a:off x="4818960" y="1280160"/>
            <a:ext cx="72720" cy="594000"/>
          </a:xfrm>
          <a:prstGeom prst="roundRect">
            <a:avLst>
              <a:gd name="adj" fmla="val 16667"/>
            </a:avLst>
          </a:prstGeom>
          <a:solidFill>
            <a:srgbClr val="4caf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0" name="Text 8"/>
          <p:cNvSpPr/>
          <p:nvPr/>
        </p:nvSpPr>
        <p:spPr>
          <a:xfrm>
            <a:off x="5029200" y="1161360"/>
            <a:ext cx="3565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4caf50"/>
                </a:solidFill>
                <a:latin typeface="Calibri"/>
                <a:ea typeface="Calibri"/>
              </a:rPr>
              <a:t>LangChain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191" name="Text 9"/>
          <p:cNvSpPr/>
          <p:nvPr/>
        </p:nvSpPr>
        <p:spPr>
          <a:xfrm>
            <a:off x="5029200" y="1581840"/>
            <a:ext cx="3565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cfd8dc"/>
                </a:solidFill>
                <a:latin typeface="Calibri"/>
                <a:ea typeface="Calibri"/>
              </a:rPr>
              <a:t>Framework pour agents ReAct</a:t>
            </a:r>
            <a:endParaRPr b="0" lang="fr-FR" sz="1250" spc="-1" strike="noStrike">
              <a:latin typeface="Arial"/>
            </a:endParaRPr>
          </a:p>
        </p:txBody>
      </p:sp>
      <p:sp>
        <p:nvSpPr>
          <p:cNvPr id="192" name="Shape 10"/>
          <p:cNvSpPr/>
          <p:nvPr/>
        </p:nvSpPr>
        <p:spPr>
          <a:xfrm>
            <a:off x="274320" y="2286000"/>
            <a:ext cx="4114440" cy="1051200"/>
          </a:xfrm>
          <a:prstGeom prst="roundRect">
            <a:avLst>
              <a:gd name="adj" fmla="val 8696"/>
            </a:avLst>
          </a:prstGeom>
          <a:solidFill>
            <a:srgbClr val="132b1a"/>
          </a:solidFill>
          <a:ln w="0">
            <a:noFill/>
          </a:ln>
          <a:effectLst>
            <a:outerShdw algn="bl" blurRad="12708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3" name="Shape 11"/>
          <p:cNvSpPr/>
          <p:nvPr/>
        </p:nvSpPr>
        <p:spPr>
          <a:xfrm>
            <a:off x="384120" y="2514600"/>
            <a:ext cx="72720" cy="594000"/>
          </a:xfrm>
          <a:prstGeom prst="roundRect">
            <a:avLst>
              <a:gd name="adj" fmla="val 16667"/>
            </a:avLst>
          </a:prstGeom>
          <a:solidFill>
            <a:srgbClr val="4caf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4" name="Text 12"/>
          <p:cNvSpPr/>
          <p:nvPr/>
        </p:nvSpPr>
        <p:spPr>
          <a:xfrm>
            <a:off x="594360" y="2395800"/>
            <a:ext cx="3565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4caf50"/>
                </a:solidFill>
                <a:latin typeface="Calibri"/>
                <a:ea typeface="Calibri"/>
              </a:rPr>
              <a:t>Groq API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195" name="Text 13"/>
          <p:cNvSpPr/>
          <p:nvPr/>
        </p:nvSpPr>
        <p:spPr>
          <a:xfrm>
            <a:off x="594360" y="2816280"/>
            <a:ext cx="3565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cfd8dc"/>
                </a:solidFill>
                <a:latin typeface="Calibri"/>
                <a:ea typeface="Calibri"/>
              </a:rPr>
              <a:t>LLaMA 3.3 70B — LLM rapide et gratuit</a:t>
            </a:r>
            <a:endParaRPr b="0" lang="fr-FR" sz="1250" spc="-1" strike="noStrike">
              <a:latin typeface="Arial"/>
            </a:endParaRPr>
          </a:p>
        </p:txBody>
      </p:sp>
      <p:sp>
        <p:nvSpPr>
          <p:cNvPr id="196" name="Shape 14"/>
          <p:cNvSpPr/>
          <p:nvPr/>
        </p:nvSpPr>
        <p:spPr>
          <a:xfrm>
            <a:off x="4709160" y="2286000"/>
            <a:ext cx="4114440" cy="1051200"/>
          </a:xfrm>
          <a:prstGeom prst="roundRect">
            <a:avLst>
              <a:gd name="adj" fmla="val 8696"/>
            </a:avLst>
          </a:prstGeom>
          <a:solidFill>
            <a:srgbClr val="132b1a"/>
          </a:solidFill>
          <a:ln w="0">
            <a:noFill/>
          </a:ln>
          <a:effectLst>
            <a:outerShdw algn="bl" blurRad="12708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7" name="Shape 15"/>
          <p:cNvSpPr/>
          <p:nvPr/>
        </p:nvSpPr>
        <p:spPr>
          <a:xfrm>
            <a:off x="4818960" y="2514600"/>
            <a:ext cx="72720" cy="594000"/>
          </a:xfrm>
          <a:prstGeom prst="roundRect">
            <a:avLst>
              <a:gd name="adj" fmla="val 16667"/>
            </a:avLst>
          </a:prstGeom>
          <a:solidFill>
            <a:srgbClr val="4caf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8" name="Text 16"/>
          <p:cNvSpPr/>
          <p:nvPr/>
        </p:nvSpPr>
        <p:spPr>
          <a:xfrm>
            <a:off x="5029200" y="2395800"/>
            <a:ext cx="3565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4caf50"/>
                </a:solidFill>
                <a:latin typeface="Calibri"/>
                <a:ea typeface="Calibri"/>
              </a:rPr>
              <a:t>API-Football v3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199" name="Text 17"/>
          <p:cNvSpPr/>
          <p:nvPr/>
        </p:nvSpPr>
        <p:spPr>
          <a:xfrm>
            <a:off x="5029200" y="2816280"/>
            <a:ext cx="3565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cfd8dc"/>
                </a:solidFill>
                <a:latin typeface="Calibri"/>
                <a:ea typeface="Calibri"/>
              </a:rPr>
              <a:t>Données football en temps réel</a:t>
            </a:r>
            <a:endParaRPr b="0" lang="fr-FR" sz="1250" spc="-1" strike="noStrike">
              <a:latin typeface="Arial"/>
            </a:endParaRPr>
          </a:p>
        </p:txBody>
      </p:sp>
      <p:sp>
        <p:nvSpPr>
          <p:cNvPr id="200" name="Shape 18"/>
          <p:cNvSpPr/>
          <p:nvPr/>
        </p:nvSpPr>
        <p:spPr>
          <a:xfrm>
            <a:off x="274320" y="3520440"/>
            <a:ext cx="4114440" cy="1051200"/>
          </a:xfrm>
          <a:prstGeom prst="roundRect">
            <a:avLst>
              <a:gd name="adj" fmla="val 8696"/>
            </a:avLst>
          </a:prstGeom>
          <a:solidFill>
            <a:srgbClr val="132b1a"/>
          </a:solidFill>
          <a:ln w="0">
            <a:noFill/>
          </a:ln>
          <a:effectLst>
            <a:outerShdw algn="bl" blurRad="12708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1" name="Shape 19"/>
          <p:cNvSpPr/>
          <p:nvPr/>
        </p:nvSpPr>
        <p:spPr>
          <a:xfrm>
            <a:off x="384120" y="3749040"/>
            <a:ext cx="72720" cy="594000"/>
          </a:xfrm>
          <a:prstGeom prst="roundRect">
            <a:avLst>
              <a:gd name="adj" fmla="val 16667"/>
            </a:avLst>
          </a:prstGeom>
          <a:solidFill>
            <a:srgbClr val="4caf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2" name="Text 20"/>
          <p:cNvSpPr/>
          <p:nvPr/>
        </p:nvSpPr>
        <p:spPr>
          <a:xfrm>
            <a:off x="594360" y="3630240"/>
            <a:ext cx="3565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4caf50"/>
                </a:solidFill>
                <a:latin typeface="Calibri"/>
                <a:ea typeface="Calibri"/>
              </a:rPr>
              <a:t>Streamlit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203" name="Text 21"/>
          <p:cNvSpPr/>
          <p:nvPr/>
        </p:nvSpPr>
        <p:spPr>
          <a:xfrm>
            <a:off x="594360" y="4050720"/>
            <a:ext cx="3565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cfd8dc"/>
                </a:solidFill>
                <a:latin typeface="Calibri"/>
                <a:ea typeface="Calibri"/>
              </a:rPr>
              <a:t>Interface web interactive</a:t>
            </a:r>
            <a:endParaRPr b="0" lang="fr-FR" sz="1250" spc="-1" strike="noStrike">
              <a:latin typeface="Arial"/>
            </a:endParaRPr>
          </a:p>
        </p:txBody>
      </p:sp>
      <p:sp>
        <p:nvSpPr>
          <p:cNvPr id="204" name="Shape 22"/>
          <p:cNvSpPr/>
          <p:nvPr/>
        </p:nvSpPr>
        <p:spPr>
          <a:xfrm>
            <a:off x="4709160" y="3520440"/>
            <a:ext cx="4114440" cy="1051200"/>
          </a:xfrm>
          <a:prstGeom prst="roundRect">
            <a:avLst>
              <a:gd name="adj" fmla="val 8696"/>
            </a:avLst>
          </a:prstGeom>
          <a:solidFill>
            <a:srgbClr val="132b1a"/>
          </a:solidFill>
          <a:ln w="0">
            <a:noFill/>
          </a:ln>
          <a:effectLst>
            <a:outerShdw algn="bl" blurRad="12708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5" name="Shape 23"/>
          <p:cNvSpPr/>
          <p:nvPr/>
        </p:nvSpPr>
        <p:spPr>
          <a:xfrm>
            <a:off x="4818960" y="3749040"/>
            <a:ext cx="72720" cy="594000"/>
          </a:xfrm>
          <a:prstGeom prst="roundRect">
            <a:avLst>
              <a:gd name="adj" fmla="val 16667"/>
            </a:avLst>
          </a:prstGeom>
          <a:solidFill>
            <a:srgbClr val="4caf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6" name="Text 24"/>
          <p:cNvSpPr/>
          <p:nvPr/>
        </p:nvSpPr>
        <p:spPr>
          <a:xfrm>
            <a:off x="5029200" y="3630240"/>
            <a:ext cx="3565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4caf50"/>
                </a:solidFill>
                <a:latin typeface="Calibri"/>
                <a:ea typeface="Calibri"/>
              </a:rPr>
              <a:t>python-dotenv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207" name="Text 25"/>
          <p:cNvSpPr/>
          <p:nvPr/>
        </p:nvSpPr>
        <p:spPr>
          <a:xfrm>
            <a:off x="5029200" y="4050720"/>
            <a:ext cx="3565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cfd8dc"/>
                </a:solidFill>
                <a:latin typeface="Calibri"/>
                <a:ea typeface="Calibri"/>
              </a:rPr>
              <a:t>Gestion sécurisée des clés API</a:t>
            </a:r>
            <a:endParaRPr b="0" lang="fr-FR" sz="12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4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Shape 0"/>
          <p:cNvSpPr/>
          <p:nvPr/>
        </p:nvSpPr>
        <p:spPr>
          <a:xfrm>
            <a:off x="5486400" y="-914400"/>
            <a:ext cx="6400440" cy="6400440"/>
          </a:xfrm>
          <a:prstGeom prst="ellipse">
            <a:avLst/>
          </a:prstGeom>
          <a:solidFill>
            <a:srgbClr val="1e5c35">
              <a:alpha val="40000"/>
            </a:srgbClr>
          </a:solidFill>
          <a:ln w="12700">
            <a:solidFill>
              <a:srgbClr val="1e5c35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9" name="Text 1"/>
          <p:cNvSpPr/>
          <p:nvPr/>
        </p:nvSpPr>
        <p:spPr>
          <a:xfrm>
            <a:off x="3657600" y="457200"/>
            <a:ext cx="18284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6000" spc="-1" strike="noStrike">
                <a:solidFill>
                  <a:srgbClr val="000000"/>
                </a:solidFill>
                <a:latin typeface="Calibri"/>
              </a:rPr>
              <a:t>⚽</a:t>
            </a:r>
            <a:endParaRPr b="0" lang="fr-FR" sz="6000" spc="-1" strike="noStrike">
              <a:latin typeface="Arial"/>
            </a:endParaRPr>
          </a:p>
        </p:txBody>
      </p:sp>
      <p:sp>
        <p:nvSpPr>
          <p:cNvPr id="210" name="Text 2"/>
          <p:cNvSpPr/>
          <p:nvPr/>
        </p:nvSpPr>
        <p:spPr>
          <a:xfrm>
            <a:off x="457200" y="1645920"/>
            <a:ext cx="8229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398" strike="noStrike">
                <a:solidFill>
                  <a:srgbClr val="ffffff"/>
                </a:solidFill>
                <a:latin typeface="Calibri"/>
                <a:ea typeface="Calibri"/>
              </a:rPr>
              <a:t>DÉMONSTRATION LIVE</a:t>
            </a:r>
            <a:endParaRPr b="0" lang="fr-FR" sz="3600" spc="-1" strike="noStrike">
              <a:latin typeface="Arial"/>
            </a:endParaRPr>
          </a:p>
        </p:txBody>
      </p:sp>
      <p:sp>
        <p:nvSpPr>
          <p:cNvPr id="211" name="Text 3"/>
          <p:cNvSpPr/>
          <p:nvPr/>
        </p:nvSpPr>
        <p:spPr>
          <a:xfrm>
            <a:off x="457200" y="260604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a5d6a7"/>
                </a:solidFill>
                <a:latin typeface="Calibri"/>
                <a:ea typeface="Calibri"/>
              </a:rPr>
              <a:t>Posez vos questions sur le football en temps réel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212" name="Text 4"/>
          <p:cNvSpPr/>
          <p:nvPr/>
        </p:nvSpPr>
        <p:spPr>
          <a:xfrm>
            <a:off x="274320" y="3337560"/>
            <a:ext cx="4114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"Compare Mbappé et Vinicius"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213" name="Text 5"/>
          <p:cNvSpPr/>
          <p:nvPr/>
        </p:nvSpPr>
        <p:spPr>
          <a:xfrm>
            <a:off x="4709160" y="3337560"/>
            <a:ext cx="4114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"Classement Premier League"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214" name="Text 6"/>
          <p:cNvSpPr/>
          <p:nvPr/>
        </p:nvSpPr>
        <p:spPr>
          <a:xfrm>
            <a:off x="274320" y="3886200"/>
            <a:ext cx="4114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"Top 5 buteurs"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215" name="Text 7"/>
          <p:cNvSpPr/>
          <p:nvPr/>
        </p:nvSpPr>
        <p:spPr>
          <a:xfrm>
            <a:off x="4709160" y="3886200"/>
            <a:ext cx="4114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4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“</a:t>
            </a: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Derniers matchs du Real Madrid"</a:t>
            </a:r>
            <a:endParaRPr b="0" lang="fr-FR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Shape 0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1a47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7" name="Text 1"/>
          <p:cNvSpPr/>
          <p:nvPr/>
        </p:nvSpPr>
        <p:spPr>
          <a:xfrm>
            <a:off x="457200" y="9144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05 — Résultats &amp; Tests</a:t>
            </a:r>
            <a:endParaRPr b="0" lang="fr-FR" sz="2600" spc="-1" strike="noStrike">
              <a:latin typeface="Arial"/>
            </a:endParaRPr>
          </a:p>
        </p:txBody>
      </p:sp>
      <p:sp>
        <p:nvSpPr>
          <p:cNvPr id="218" name="Shape 2"/>
          <p:cNvSpPr/>
          <p:nvPr/>
        </p:nvSpPr>
        <p:spPr>
          <a:xfrm>
            <a:off x="274320" y="1051560"/>
            <a:ext cx="1828440" cy="1279800"/>
          </a:xfrm>
          <a:prstGeom prst="roundRect">
            <a:avLst>
              <a:gd name="adj" fmla="val 7143"/>
            </a:avLst>
          </a:prstGeom>
          <a:solidFill>
            <a:srgbClr val="1a472a"/>
          </a:solidFill>
          <a:ln w="0">
            <a:noFill/>
          </a:ln>
          <a:effectLst>
            <a:outerShdw algn="bl" blurRad="12708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9" name="Text 3"/>
          <p:cNvSpPr/>
          <p:nvPr/>
        </p:nvSpPr>
        <p:spPr>
          <a:xfrm>
            <a:off x="274320" y="1161360"/>
            <a:ext cx="182844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400" spc="-1" strike="noStrike">
                <a:solidFill>
                  <a:srgbClr val="f9a825"/>
                </a:solidFill>
                <a:latin typeface="Calibri"/>
                <a:ea typeface="Calibri"/>
              </a:rPr>
              <a:t>7</a:t>
            </a:r>
            <a:endParaRPr b="0" lang="fr-FR" sz="3400" spc="-1" strike="noStrike">
              <a:latin typeface="Arial"/>
            </a:endParaRPr>
          </a:p>
        </p:txBody>
      </p:sp>
      <p:sp>
        <p:nvSpPr>
          <p:cNvPr id="220" name="Text 4"/>
          <p:cNvSpPr/>
          <p:nvPr/>
        </p:nvSpPr>
        <p:spPr>
          <a:xfrm>
            <a:off x="274320" y="1819800"/>
            <a:ext cx="182844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Tools disponibles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221" name="Shape 5"/>
          <p:cNvSpPr/>
          <p:nvPr/>
        </p:nvSpPr>
        <p:spPr>
          <a:xfrm>
            <a:off x="2331720" y="1051560"/>
            <a:ext cx="1828440" cy="1279800"/>
          </a:xfrm>
          <a:prstGeom prst="roundRect">
            <a:avLst>
              <a:gd name="adj" fmla="val 7143"/>
            </a:avLst>
          </a:prstGeom>
          <a:solidFill>
            <a:srgbClr val="1a472a"/>
          </a:solidFill>
          <a:ln w="0">
            <a:noFill/>
          </a:ln>
          <a:effectLst>
            <a:outerShdw algn="bl" blurRad="12708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2" name="Text 6"/>
          <p:cNvSpPr/>
          <p:nvPr/>
        </p:nvSpPr>
        <p:spPr>
          <a:xfrm>
            <a:off x="2331720" y="1161360"/>
            <a:ext cx="182844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400" spc="-1" strike="noStrike">
                <a:solidFill>
                  <a:srgbClr val="f9a825"/>
                </a:solidFill>
                <a:latin typeface="Calibri"/>
                <a:ea typeface="Calibri"/>
              </a:rPr>
              <a:t>95%+</a:t>
            </a:r>
            <a:endParaRPr b="0" lang="fr-FR" sz="3400" spc="-1" strike="noStrike">
              <a:latin typeface="Arial"/>
            </a:endParaRPr>
          </a:p>
        </p:txBody>
      </p:sp>
      <p:sp>
        <p:nvSpPr>
          <p:cNvPr id="223" name="Text 7"/>
          <p:cNvSpPr/>
          <p:nvPr/>
        </p:nvSpPr>
        <p:spPr>
          <a:xfrm>
            <a:off x="2331720" y="1819800"/>
            <a:ext cx="182844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Sélection correcte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224" name="Shape 8"/>
          <p:cNvSpPr/>
          <p:nvPr/>
        </p:nvSpPr>
        <p:spPr>
          <a:xfrm>
            <a:off x="4389120" y="1051560"/>
            <a:ext cx="1828440" cy="1279800"/>
          </a:xfrm>
          <a:prstGeom prst="roundRect">
            <a:avLst>
              <a:gd name="adj" fmla="val 7143"/>
            </a:avLst>
          </a:prstGeom>
          <a:solidFill>
            <a:srgbClr val="1a472a"/>
          </a:solidFill>
          <a:ln w="0">
            <a:noFill/>
          </a:ln>
          <a:effectLst>
            <a:outerShdw algn="bl" blurRad="12708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5" name="Text 9"/>
          <p:cNvSpPr/>
          <p:nvPr/>
        </p:nvSpPr>
        <p:spPr>
          <a:xfrm>
            <a:off x="4389120" y="1161360"/>
            <a:ext cx="182844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400" spc="-1" strike="noStrike">
                <a:solidFill>
                  <a:srgbClr val="f9a825"/>
                </a:solidFill>
                <a:latin typeface="Calibri"/>
                <a:ea typeface="Calibri"/>
              </a:rPr>
              <a:t>5</a:t>
            </a:r>
            <a:endParaRPr b="0" lang="fr-FR" sz="3400" spc="-1" strike="noStrike">
              <a:latin typeface="Arial"/>
            </a:endParaRPr>
          </a:p>
        </p:txBody>
      </p:sp>
      <p:sp>
        <p:nvSpPr>
          <p:cNvPr id="226" name="Text 10"/>
          <p:cNvSpPr/>
          <p:nvPr/>
        </p:nvSpPr>
        <p:spPr>
          <a:xfrm>
            <a:off x="4389120" y="1819800"/>
            <a:ext cx="182844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Échanges mémorisés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227" name="Shape 11"/>
          <p:cNvSpPr/>
          <p:nvPr/>
        </p:nvSpPr>
        <p:spPr>
          <a:xfrm>
            <a:off x="6446520" y="1051560"/>
            <a:ext cx="2377080" cy="1279800"/>
          </a:xfrm>
          <a:prstGeom prst="roundRect">
            <a:avLst>
              <a:gd name="adj" fmla="val 7143"/>
            </a:avLst>
          </a:prstGeom>
          <a:solidFill>
            <a:srgbClr val="1a472a"/>
          </a:solidFill>
          <a:ln w="0">
            <a:noFill/>
          </a:ln>
          <a:effectLst>
            <a:outerShdw algn="bl" blurRad="127080" dir="27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8" name="Text 12"/>
          <p:cNvSpPr/>
          <p:nvPr/>
        </p:nvSpPr>
        <p:spPr>
          <a:xfrm>
            <a:off x="6446520" y="1161360"/>
            <a:ext cx="237708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9a825"/>
                </a:solidFill>
                <a:latin typeface="Calibri"/>
                <a:ea typeface="Calibri"/>
              </a:rPr>
              <a:t>LLaMA 3.3</a:t>
            </a:r>
            <a:endParaRPr b="0" lang="fr-FR" sz="3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9a825"/>
                </a:solidFill>
                <a:latin typeface="Calibri"/>
                <a:ea typeface="Calibri"/>
              </a:rPr>
              <a:t>70B</a:t>
            </a:r>
            <a:endParaRPr b="0" lang="fr-FR" sz="3200" spc="-1" strike="noStrike">
              <a:latin typeface="Arial"/>
            </a:endParaRPr>
          </a:p>
        </p:txBody>
      </p:sp>
      <p:sp>
        <p:nvSpPr>
          <p:cNvPr id="229" name="Text 13"/>
          <p:cNvSpPr/>
          <p:nvPr/>
        </p:nvSpPr>
        <p:spPr>
          <a:xfrm>
            <a:off x="6446520" y="1980000"/>
            <a:ext cx="237708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Modèle utilisé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230" name="Text 14"/>
          <p:cNvSpPr/>
          <p:nvPr/>
        </p:nvSpPr>
        <p:spPr>
          <a:xfrm>
            <a:off x="274320" y="242316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1a472a"/>
                </a:solidFill>
                <a:latin typeface="Calibri"/>
                <a:ea typeface="Calibri"/>
              </a:rPr>
              <a:t>Scénarios testés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231" name="Shape 15"/>
          <p:cNvSpPr/>
          <p:nvPr/>
        </p:nvSpPr>
        <p:spPr>
          <a:xfrm>
            <a:off x="274320" y="2788920"/>
            <a:ext cx="3108600" cy="310680"/>
          </a:xfrm>
          <a:prstGeom prst="rect">
            <a:avLst/>
          </a:prstGeom>
          <a:solidFill>
            <a:srgbClr val="1a47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2" name="Text 16"/>
          <p:cNvSpPr/>
          <p:nvPr/>
        </p:nvSpPr>
        <p:spPr>
          <a:xfrm>
            <a:off x="274320" y="2788920"/>
            <a:ext cx="31086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Question</a:t>
            </a:r>
            <a:endParaRPr b="0" lang="fr-FR" sz="1150" spc="-1" strike="noStrike">
              <a:latin typeface="Arial"/>
            </a:endParaRPr>
          </a:p>
        </p:txBody>
      </p:sp>
      <p:sp>
        <p:nvSpPr>
          <p:cNvPr id="233" name="Shape 17"/>
          <p:cNvSpPr/>
          <p:nvPr/>
        </p:nvSpPr>
        <p:spPr>
          <a:xfrm>
            <a:off x="3383280" y="2788920"/>
            <a:ext cx="2742840" cy="310680"/>
          </a:xfrm>
          <a:prstGeom prst="rect">
            <a:avLst/>
          </a:prstGeom>
          <a:solidFill>
            <a:srgbClr val="1a47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4" name="Text 18"/>
          <p:cNvSpPr/>
          <p:nvPr/>
        </p:nvSpPr>
        <p:spPr>
          <a:xfrm>
            <a:off x="3383280" y="2788920"/>
            <a:ext cx="2742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Tool sélectionné</a:t>
            </a:r>
            <a:endParaRPr b="0" lang="fr-FR" sz="1150" spc="-1" strike="noStrike">
              <a:latin typeface="Arial"/>
            </a:endParaRPr>
          </a:p>
        </p:txBody>
      </p:sp>
      <p:sp>
        <p:nvSpPr>
          <p:cNvPr id="235" name="Shape 19"/>
          <p:cNvSpPr/>
          <p:nvPr/>
        </p:nvSpPr>
        <p:spPr>
          <a:xfrm>
            <a:off x="6126480" y="2788920"/>
            <a:ext cx="914040" cy="310680"/>
          </a:xfrm>
          <a:prstGeom prst="rect">
            <a:avLst/>
          </a:prstGeom>
          <a:solidFill>
            <a:srgbClr val="1a47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6" name="Text 20"/>
          <p:cNvSpPr/>
          <p:nvPr/>
        </p:nvSpPr>
        <p:spPr>
          <a:xfrm>
            <a:off x="6126480" y="2788920"/>
            <a:ext cx="9140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OK</a:t>
            </a:r>
            <a:endParaRPr b="0" lang="fr-FR" sz="1150" spc="-1" strike="noStrike">
              <a:latin typeface="Arial"/>
            </a:endParaRPr>
          </a:p>
        </p:txBody>
      </p:sp>
      <p:sp>
        <p:nvSpPr>
          <p:cNvPr id="237" name="Shape 21"/>
          <p:cNvSpPr/>
          <p:nvPr/>
        </p:nvSpPr>
        <p:spPr>
          <a:xfrm>
            <a:off x="274320" y="3099960"/>
            <a:ext cx="3108600" cy="3106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8" name="Text 22"/>
          <p:cNvSpPr/>
          <p:nvPr/>
        </p:nvSpPr>
        <p:spPr>
          <a:xfrm>
            <a:off x="274320" y="3099960"/>
            <a:ext cx="31086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333333"/>
                </a:solidFill>
                <a:latin typeface="Calibri"/>
                <a:ea typeface="Calibri"/>
              </a:rPr>
              <a:t>stats de Mbappé</a:t>
            </a:r>
            <a:endParaRPr b="0" lang="fr-FR" sz="1050" spc="-1" strike="noStrike">
              <a:latin typeface="Arial"/>
            </a:endParaRPr>
          </a:p>
        </p:txBody>
      </p:sp>
      <p:sp>
        <p:nvSpPr>
          <p:cNvPr id="239" name="Shape 23"/>
          <p:cNvSpPr/>
          <p:nvPr/>
        </p:nvSpPr>
        <p:spPr>
          <a:xfrm>
            <a:off x="3383280" y="3099960"/>
            <a:ext cx="2742840" cy="3106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0" name="Text 24"/>
          <p:cNvSpPr/>
          <p:nvPr/>
        </p:nvSpPr>
        <p:spPr>
          <a:xfrm>
            <a:off x="3383280" y="3099960"/>
            <a:ext cx="2742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333333"/>
                </a:solidFill>
                <a:latin typeface="Calibri"/>
                <a:ea typeface="Calibri"/>
              </a:rPr>
              <a:t>search_player</a:t>
            </a:r>
            <a:endParaRPr b="0" lang="fr-FR" sz="1050" spc="-1" strike="noStrike">
              <a:latin typeface="Arial"/>
            </a:endParaRPr>
          </a:p>
        </p:txBody>
      </p:sp>
      <p:sp>
        <p:nvSpPr>
          <p:cNvPr id="241" name="Shape 25"/>
          <p:cNvSpPr/>
          <p:nvPr/>
        </p:nvSpPr>
        <p:spPr>
          <a:xfrm>
            <a:off x="6126480" y="3099960"/>
            <a:ext cx="914040" cy="3106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2" name="Text 26"/>
          <p:cNvSpPr/>
          <p:nvPr/>
        </p:nvSpPr>
        <p:spPr>
          <a:xfrm>
            <a:off x="6126480" y="3099960"/>
            <a:ext cx="9140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333333"/>
                </a:solidFill>
                <a:latin typeface="Calibri"/>
                <a:ea typeface="Calibri"/>
              </a:rPr>
              <a:t>✅</a:t>
            </a:r>
            <a:endParaRPr b="0" lang="fr-FR" sz="1050" spc="-1" strike="noStrike">
              <a:latin typeface="Arial"/>
            </a:endParaRPr>
          </a:p>
        </p:txBody>
      </p:sp>
      <p:sp>
        <p:nvSpPr>
          <p:cNvPr id="243" name="Shape 27"/>
          <p:cNvSpPr/>
          <p:nvPr/>
        </p:nvSpPr>
        <p:spPr>
          <a:xfrm>
            <a:off x="274320" y="3410640"/>
            <a:ext cx="3108600" cy="310680"/>
          </a:xfrm>
          <a:prstGeom prst="rect">
            <a:avLst/>
          </a:prstGeom>
          <a:solidFill>
            <a:srgbClr val="f0f7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4" name="Text 28"/>
          <p:cNvSpPr/>
          <p:nvPr/>
        </p:nvSpPr>
        <p:spPr>
          <a:xfrm>
            <a:off x="274320" y="3410640"/>
            <a:ext cx="31086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333333"/>
                </a:solidFill>
                <a:latin typeface="Calibri"/>
                <a:ea typeface="Calibri"/>
              </a:rPr>
              <a:t>compare Haaland et Salah</a:t>
            </a:r>
            <a:endParaRPr b="0" lang="fr-FR" sz="1050" spc="-1" strike="noStrike">
              <a:latin typeface="Arial"/>
            </a:endParaRPr>
          </a:p>
        </p:txBody>
      </p:sp>
      <p:sp>
        <p:nvSpPr>
          <p:cNvPr id="245" name="Shape 29"/>
          <p:cNvSpPr/>
          <p:nvPr/>
        </p:nvSpPr>
        <p:spPr>
          <a:xfrm>
            <a:off x="3383280" y="3410640"/>
            <a:ext cx="2742840" cy="310680"/>
          </a:xfrm>
          <a:prstGeom prst="rect">
            <a:avLst/>
          </a:prstGeom>
          <a:solidFill>
            <a:srgbClr val="f0f7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6" name="Text 30"/>
          <p:cNvSpPr/>
          <p:nvPr/>
        </p:nvSpPr>
        <p:spPr>
          <a:xfrm>
            <a:off x="3383280" y="3410640"/>
            <a:ext cx="2742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333333"/>
                </a:solidFill>
                <a:latin typeface="Calibri"/>
                <a:ea typeface="Calibri"/>
              </a:rPr>
              <a:t>compare_players</a:t>
            </a:r>
            <a:endParaRPr b="0" lang="fr-FR" sz="1050" spc="-1" strike="noStrike">
              <a:latin typeface="Arial"/>
            </a:endParaRPr>
          </a:p>
        </p:txBody>
      </p:sp>
      <p:sp>
        <p:nvSpPr>
          <p:cNvPr id="247" name="Shape 31"/>
          <p:cNvSpPr/>
          <p:nvPr/>
        </p:nvSpPr>
        <p:spPr>
          <a:xfrm>
            <a:off x="6126480" y="3410640"/>
            <a:ext cx="914040" cy="310680"/>
          </a:xfrm>
          <a:prstGeom prst="rect">
            <a:avLst/>
          </a:prstGeom>
          <a:solidFill>
            <a:srgbClr val="f0f7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8" name="Text 32"/>
          <p:cNvSpPr/>
          <p:nvPr/>
        </p:nvSpPr>
        <p:spPr>
          <a:xfrm>
            <a:off x="6126480" y="3410640"/>
            <a:ext cx="9140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333333"/>
                </a:solidFill>
                <a:latin typeface="Calibri"/>
                <a:ea typeface="Calibri"/>
              </a:rPr>
              <a:t>✅</a:t>
            </a:r>
            <a:endParaRPr b="0" lang="fr-FR" sz="1050" spc="-1" strike="noStrike">
              <a:latin typeface="Arial"/>
            </a:endParaRPr>
          </a:p>
        </p:txBody>
      </p:sp>
      <p:sp>
        <p:nvSpPr>
          <p:cNvPr id="249" name="Shape 33"/>
          <p:cNvSpPr/>
          <p:nvPr/>
        </p:nvSpPr>
        <p:spPr>
          <a:xfrm>
            <a:off x="274320" y="3721680"/>
            <a:ext cx="3108600" cy="3106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0" name="Text 34"/>
          <p:cNvSpPr/>
          <p:nvPr/>
        </p:nvSpPr>
        <p:spPr>
          <a:xfrm>
            <a:off x="274320" y="3721680"/>
            <a:ext cx="31086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333333"/>
                </a:solidFill>
                <a:latin typeface="Calibri"/>
                <a:ea typeface="Calibri"/>
              </a:rPr>
              <a:t>classement Premier League</a:t>
            </a:r>
            <a:endParaRPr b="0" lang="fr-FR" sz="1050" spc="-1" strike="noStrike">
              <a:latin typeface="Arial"/>
            </a:endParaRPr>
          </a:p>
        </p:txBody>
      </p:sp>
      <p:sp>
        <p:nvSpPr>
          <p:cNvPr id="251" name="Shape 35"/>
          <p:cNvSpPr/>
          <p:nvPr/>
        </p:nvSpPr>
        <p:spPr>
          <a:xfrm>
            <a:off x="3383280" y="3721680"/>
            <a:ext cx="2742840" cy="3106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2" name="Text 36"/>
          <p:cNvSpPr/>
          <p:nvPr/>
        </p:nvSpPr>
        <p:spPr>
          <a:xfrm>
            <a:off x="3383280" y="3721680"/>
            <a:ext cx="2742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333333"/>
                </a:solidFill>
                <a:latin typeface="Calibri"/>
                <a:ea typeface="Calibri"/>
              </a:rPr>
              <a:t>get_league_standings</a:t>
            </a:r>
            <a:endParaRPr b="0" lang="fr-FR" sz="1050" spc="-1" strike="noStrike">
              <a:latin typeface="Arial"/>
            </a:endParaRPr>
          </a:p>
        </p:txBody>
      </p:sp>
      <p:sp>
        <p:nvSpPr>
          <p:cNvPr id="253" name="Shape 37"/>
          <p:cNvSpPr/>
          <p:nvPr/>
        </p:nvSpPr>
        <p:spPr>
          <a:xfrm>
            <a:off x="6126480" y="3721680"/>
            <a:ext cx="914040" cy="3106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4" name="Text 38"/>
          <p:cNvSpPr/>
          <p:nvPr/>
        </p:nvSpPr>
        <p:spPr>
          <a:xfrm>
            <a:off x="6126480" y="3721680"/>
            <a:ext cx="9140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333333"/>
                </a:solidFill>
                <a:latin typeface="Calibri"/>
                <a:ea typeface="Calibri"/>
              </a:rPr>
              <a:t>✅</a:t>
            </a:r>
            <a:endParaRPr b="0" lang="fr-FR" sz="1050" spc="-1" strike="noStrike">
              <a:latin typeface="Arial"/>
            </a:endParaRPr>
          </a:p>
        </p:txBody>
      </p:sp>
      <p:sp>
        <p:nvSpPr>
          <p:cNvPr id="255" name="Shape 39"/>
          <p:cNvSpPr/>
          <p:nvPr/>
        </p:nvSpPr>
        <p:spPr>
          <a:xfrm>
            <a:off x="274320" y="4032360"/>
            <a:ext cx="3108600" cy="310680"/>
          </a:xfrm>
          <a:prstGeom prst="rect">
            <a:avLst/>
          </a:prstGeom>
          <a:solidFill>
            <a:srgbClr val="f0f7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6" name="Text 40"/>
          <p:cNvSpPr/>
          <p:nvPr/>
        </p:nvSpPr>
        <p:spPr>
          <a:xfrm>
            <a:off x="274320" y="4032360"/>
            <a:ext cx="31086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333333"/>
                </a:solidFill>
                <a:latin typeface="Calibri"/>
                <a:ea typeface="Calibri"/>
              </a:rPr>
              <a:t>attaquants +20 buts</a:t>
            </a:r>
            <a:endParaRPr b="0" lang="fr-FR" sz="1050" spc="-1" strike="noStrike">
              <a:latin typeface="Arial"/>
            </a:endParaRPr>
          </a:p>
        </p:txBody>
      </p:sp>
      <p:sp>
        <p:nvSpPr>
          <p:cNvPr id="257" name="Shape 41"/>
          <p:cNvSpPr/>
          <p:nvPr/>
        </p:nvSpPr>
        <p:spPr>
          <a:xfrm>
            <a:off x="3383280" y="4032360"/>
            <a:ext cx="2742840" cy="310680"/>
          </a:xfrm>
          <a:prstGeom prst="rect">
            <a:avLst/>
          </a:prstGeom>
          <a:solidFill>
            <a:srgbClr val="f0f7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8" name="Text 42"/>
          <p:cNvSpPr/>
          <p:nvPr/>
        </p:nvSpPr>
        <p:spPr>
          <a:xfrm>
            <a:off x="3383280" y="4032360"/>
            <a:ext cx="2742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333333"/>
                </a:solidFill>
                <a:latin typeface="Calibri"/>
                <a:ea typeface="Calibri"/>
              </a:rPr>
              <a:t>filter_players</a:t>
            </a:r>
            <a:endParaRPr b="0" lang="fr-FR" sz="1050" spc="-1" strike="noStrike">
              <a:latin typeface="Arial"/>
            </a:endParaRPr>
          </a:p>
        </p:txBody>
      </p:sp>
      <p:sp>
        <p:nvSpPr>
          <p:cNvPr id="259" name="Shape 43"/>
          <p:cNvSpPr/>
          <p:nvPr/>
        </p:nvSpPr>
        <p:spPr>
          <a:xfrm>
            <a:off x="6126480" y="4032360"/>
            <a:ext cx="914040" cy="310680"/>
          </a:xfrm>
          <a:prstGeom prst="rect">
            <a:avLst/>
          </a:prstGeom>
          <a:solidFill>
            <a:srgbClr val="f0f7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0" name="Text 44"/>
          <p:cNvSpPr/>
          <p:nvPr/>
        </p:nvSpPr>
        <p:spPr>
          <a:xfrm>
            <a:off x="6126480" y="4032360"/>
            <a:ext cx="9140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333333"/>
                </a:solidFill>
                <a:latin typeface="Calibri"/>
                <a:ea typeface="Calibri"/>
              </a:rPr>
              <a:t>✅</a:t>
            </a:r>
            <a:endParaRPr b="0" lang="fr-FR" sz="1050" spc="-1" strike="noStrike">
              <a:latin typeface="Arial"/>
            </a:endParaRPr>
          </a:p>
        </p:txBody>
      </p:sp>
      <p:sp>
        <p:nvSpPr>
          <p:cNvPr id="261" name="Shape 45"/>
          <p:cNvSpPr/>
          <p:nvPr/>
        </p:nvSpPr>
        <p:spPr>
          <a:xfrm>
            <a:off x="274320" y="4343400"/>
            <a:ext cx="3108600" cy="3106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2" name="Text 46"/>
          <p:cNvSpPr/>
          <p:nvPr/>
        </p:nvSpPr>
        <p:spPr>
          <a:xfrm>
            <a:off x="274320" y="4343400"/>
            <a:ext cx="31086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333333"/>
                </a:solidFill>
                <a:latin typeface="Calibri"/>
                <a:ea typeface="Calibri"/>
              </a:rPr>
              <a:t>top 5 buteurs</a:t>
            </a:r>
            <a:endParaRPr b="0" lang="fr-FR" sz="1050" spc="-1" strike="noStrike">
              <a:latin typeface="Arial"/>
            </a:endParaRPr>
          </a:p>
        </p:txBody>
      </p:sp>
      <p:sp>
        <p:nvSpPr>
          <p:cNvPr id="263" name="Shape 47"/>
          <p:cNvSpPr/>
          <p:nvPr/>
        </p:nvSpPr>
        <p:spPr>
          <a:xfrm>
            <a:off x="3383280" y="4343400"/>
            <a:ext cx="2742840" cy="3106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4" name="Text 48"/>
          <p:cNvSpPr/>
          <p:nvPr/>
        </p:nvSpPr>
        <p:spPr>
          <a:xfrm>
            <a:off x="3383280" y="4343400"/>
            <a:ext cx="2742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333333"/>
                </a:solidFill>
                <a:latin typeface="Calibri"/>
                <a:ea typeface="Calibri"/>
              </a:rPr>
              <a:t>top_players</a:t>
            </a:r>
            <a:endParaRPr b="0" lang="fr-FR" sz="1050" spc="-1" strike="noStrike">
              <a:latin typeface="Arial"/>
            </a:endParaRPr>
          </a:p>
        </p:txBody>
      </p:sp>
      <p:sp>
        <p:nvSpPr>
          <p:cNvPr id="265" name="Shape 49"/>
          <p:cNvSpPr/>
          <p:nvPr/>
        </p:nvSpPr>
        <p:spPr>
          <a:xfrm>
            <a:off x="6126480" y="4343400"/>
            <a:ext cx="914040" cy="3106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6" name="Text 50"/>
          <p:cNvSpPr/>
          <p:nvPr/>
        </p:nvSpPr>
        <p:spPr>
          <a:xfrm>
            <a:off x="6126480" y="4343400"/>
            <a:ext cx="9140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333333"/>
                </a:solidFill>
                <a:latin typeface="Calibri"/>
                <a:ea typeface="Calibri"/>
              </a:rPr>
              <a:t>✅</a:t>
            </a:r>
            <a:endParaRPr b="0" lang="fr-FR" sz="1050" spc="-1" strike="noStrike">
              <a:latin typeface="Arial"/>
            </a:endParaRPr>
          </a:p>
        </p:txBody>
      </p:sp>
      <p:sp>
        <p:nvSpPr>
          <p:cNvPr id="267" name="Shape 51"/>
          <p:cNvSpPr/>
          <p:nvPr/>
        </p:nvSpPr>
        <p:spPr>
          <a:xfrm>
            <a:off x="274320" y="4654440"/>
            <a:ext cx="3108600" cy="310680"/>
          </a:xfrm>
          <a:prstGeom prst="rect">
            <a:avLst/>
          </a:prstGeom>
          <a:solidFill>
            <a:srgbClr val="f0f7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8" name="Text 52"/>
          <p:cNvSpPr/>
          <p:nvPr/>
        </p:nvSpPr>
        <p:spPr>
          <a:xfrm>
            <a:off x="274320" y="4654440"/>
            <a:ext cx="31086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333333"/>
                </a:solidFill>
                <a:latin typeface="Calibri"/>
                <a:ea typeface="Calibri"/>
              </a:rPr>
              <a:t>matchs en direct (plan API limité)</a:t>
            </a:r>
            <a:endParaRPr b="0" lang="fr-FR" sz="1050" spc="-1" strike="noStrike">
              <a:latin typeface="Arial"/>
            </a:endParaRPr>
          </a:p>
        </p:txBody>
      </p:sp>
      <p:sp>
        <p:nvSpPr>
          <p:cNvPr id="269" name="Shape 53"/>
          <p:cNvSpPr/>
          <p:nvPr/>
        </p:nvSpPr>
        <p:spPr>
          <a:xfrm>
            <a:off x="3383280" y="4654440"/>
            <a:ext cx="2742840" cy="310680"/>
          </a:xfrm>
          <a:prstGeom prst="rect">
            <a:avLst/>
          </a:prstGeom>
          <a:solidFill>
            <a:srgbClr val="f0f7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0" name="Text 54"/>
          <p:cNvSpPr/>
          <p:nvPr/>
        </p:nvSpPr>
        <p:spPr>
          <a:xfrm>
            <a:off x="3383280" y="4654440"/>
            <a:ext cx="2742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333333"/>
                </a:solidFill>
                <a:latin typeface="Calibri"/>
                <a:ea typeface="Calibri"/>
              </a:rPr>
              <a:t>get_live_matches</a:t>
            </a:r>
            <a:endParaRPr b="0" lang="fr-FR" sz="1050" spc="-1" strike="noStrike">
              <a:latin typeface="Arial"/>
            </a:endParaRPr>
          </a:p>
        </p:txBody>
      </p:sp>
      <p:sp>
        <p:nvSpPr>
          <p:cNvPr id="271" name="Shape 55"/>
          <p:cNvSpPr/>
          <p:nvPr/>
        </p:nvSpPr>
        <p:spPr>
          <a:xfrm>
            <a:off x="6126480" y="4654440"/>
            <a:ext cx="914040" cy="310680"/>
          </a:xfrm>
          <a:prstGeom prst="rect">
            <a:avLst/>
          </a:prstGeom>
          <a:solidFill>
            <a:srgbClr val="f0f7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2" name="Text 56"/>
          <p:cNvSpPr/>
          <p:nvPr/>
        </p:nvSpPr>
        <p:spPr>
          <a:xfrm>
            <a:off x="6126480" y="4654440"/>
            <a:ext cx="9140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333333"/>
                </a:solidFill>
                <a:latin typeface="Calibri"/>
                <a:ea typeface="Calibri"/>
              </a:rPr>
              <a:t>⚠️ </a:t>
            </a:r>
            <a:r>
              <a:rPr b="0" lang="en-US" sz="1050" spc="-1" strike="noStrike">
                <a:solidFill>
                  <a:srgbClr val="333333"/>
                </a:solidFill>
                <a:latin typeface="Calibri"/>
                <a:ea typeface="Calibri"/>
              </a:rPr>
              <a:t>géré</a:t>
            </a:r>
            <a:endParaRPr b="0" lang="fr-FR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Shape 0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1a47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4" name="Text 1"/>
          <p:cNvSpPr/>
          <p:nvPr/>
        </p:nvSpPr>
        <p:spPr>
          <a:xfrm>
            <a:off x="457200" y="9144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06 — Analyse critique</a:t>
            </a:r>
            <a:endParaRPr b="0" lang="fr-FR" sz="2600" spc="-1" strike="noStrike">
              <a:latin typeface="Arial"/>
            </a:endParaRPr>
          </a:p>
        </p:txBody>
      </p:sp>
      <p:pic>
        <p:nvPicPr>
          <p:cNvPr id="275" name="Image 0" descr="preencoded.png"/>
          <p:cNvPicPr/>
          <p:nvPr/>
        </p:nvPicPr>
        <p:blipFill>
          <a:blip r:embed="rId1"/>
          <a:stretch/>
        </p:blipFill>
        <p:spPr>
          <a:xfrm>
            <a:off x="274320" y="1005840"/>
            <a:ext cx="365400" cy="365400"/>
          </a:xfrm>
          <a:prstGeom prst="rect">
            <a:avLst/>
          </a:prstGeom>
          <a:ln w="0">
            <a:noFill/>
          </a:ln>
        </p:spPr>
      </p:pic>
      <p:sp>
        <p:nvSpPr>
          <p:cNvPr id="276" name="Text 2"/>
          <p:cNvSpPr/>
          <p:nvPr/>
        </p:nvSpPr>
        <p:spPr>
          <a:xfrm>
            <a:off x="731520" y="105156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4caf50"/>
                </a:solidFill>
                <a:latin typeface="Calibri"/>
                <a:ea typeface="Calibri"/>
              </a:rPr>
              <a:t>Avantages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277" name="Text 3"/>
          <p:cNvSpPr/>
          <p:nvPr/>
        </p:nvSpPr>
        <p:spPr>
          <a:xfrm>
            <a:off x="365760" y="1463040"/>
            <a:ext cx="3840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cfd8dc"/>
                </a:solidFill>
                <a:latin typeface="Calibri"/>
                <a:ea typeface="Calibri"/>
              </a:rPr>
              <a:t>✓  </a:t>
            </a:r>
            <a:r>
              <a:rPr b="0" lang="en-US" sz="1250" spc="-1" strike="noStrike">
                <a:solidFill>
                  <a:srgbClr val="cfd8dc"/>
                </a:solidFill>
                <a:latin typeface="Calibri"/>
                <a:ea typeface="Calibri"/>
              </a:rPr>
              <a:t>Architecture agentique réelle (Tool Calling)</a:t>
            </a:r>
            <a:endParaRPr b="0" lang="fr-FR" sz="1250" spc="-1" strike="noStrike">
              <a:latin typeface="Arial"/>
            </a:endParaRPr>
          </a:p>
        </p:txBody>
      </p:sp>
      <p:sp>
        <p:nvSpPr>
          <p:cNvPr id="278" name="Text 4"/>
          <p:cNvSpPr/>
          <p:nvPr/>
        </p:nvSpPr>
        <p:spPr>
          <a:xfrm>
            <a:off x="365760" y="1847160"/>
            <a:ext cx="3840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cfd8dc"/>
                </a:solidFill>
                <a:latin typeface="Calibri"/>
                <a:ea typeface="Calibri"/>
              </a:rPr>
              <a:t>✓  </a:t>
            </a:r>
            <a:r>
              <a:rPr b="0" lang="en-US" sz="1250" spc="-1" strike="noStrike">
                <a:solidFill>
                  <a:srgbClr val="cfd8dc"/>
                </a:solidFill>
                <a:latin typeface="Calibri"/>
                <a:ea typeface="Calibri"/>
              </a:rPr>
              <a:t>7 tools couvrant tous les cas d'usage</a:t>
            </a:r>
            <a:endParaRPr b="0" lang="fr-FR" sz="1250" spc="-1" strike="noStrike">
              <a:latin typeface="Arial"/>
            </a:endParaRPr>
          </a:p>
        </p:txBody>
      </p:sp>
      <p:sp>
        <p:nvSpPr>
          <p:cNvPr id="279" name="Text 5"/>
          <p:cNvSpPr/>
          <p:nvPr/>
        </p:nvSpPr>
        <p:spPr>
          <a:xfrm>
            <a:off x="365760" y="2231280"/>
            <a:ext cx="3840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cfd8dc"/>
                </a:solidFill>
                <a:latin typeface="Calibri"/>
                <a:ea typeface="Calibri"/>
              </a:rPr>
              <a:t>✓  </a:t>
            </a:r>
            <a:r>
              <a:rPr b="0" lang="en-US" sz="1250" spc="-1" strike="noStrike">
                <a:solidFill>
                  <a:srgbClr val="cfd8dc"/>
                </a:solidFill>
                <a:latin typeface="Calibri"/>
                <a:ea typeface="Calibri"/>
              </a:rPr>
              <a:t>Gestion robuste des erreurs API — ne plante jamais</a:t>
            </a:r>
            <a:endParaRPr b="0" lang="fr-FR" sz="1250" spc="-1" strike="noStrike">
              <a:latin typeface="Arial"/>
            </a:endParaRPr>
          </a:p>
        </p:txBody>
      </p:sp>
      <p:sp>
        <p:nvSpPr>
          <p:cNvPr id="280" name="Text 6"/>
          <p:cNvSpPr/>
          <p:nvPr/>
        </p:nvSpPr>
        <p:spPr>
          <a:xfrm>
            <a:off x="365760" y="2615040"/>
            <a:ext cx="3840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cfd8dc"/>
                </a:solidFill>
                <a:latin typeface="Calibri"/>
                <a:ea typeface="Calibri"/>
              </a:rPr>
              <a:t>✓  </a:t>
            </a:r>
            <a:r>
              <a:rPr b="0" lang="en-US" sz="1250" spc="-1" strike="noStrike">
                <a:solidFill>
                  <a:srgbClr val="cfd8dc"/>
                </a:solidFill>
                <a:latin typeface="Calibri"/>
                <a:ea typeface="Calibri"/>
              </a:rPr>
              <a:t>Interface Streamlit intuitive</a:t>
            </a:r>
            <a:endParaRPr b="0" lang="fr-FR" sz="1250" spc="-1" strike="noStrike">
              <a:latin typeface="Arial"/>
            </a:endParaRPr>
          </a:p>
        </p:txBody>
      </p:sp>
      <p:sp>
        <p:nvSpPr>
          <p:cNvPr id="281" name="Text 7"/>
          <p:cNvSpPr/>
          <p:nvPr/>
        </p:nvSpPr>
        <p:spPr>
          <a:xfrm>
            <a:off x="365760" y="2999160"/>
            <a:ext cx="3840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cfd8dc"/>
                </a:solidFill>
                <a:latin typeface="Calibri"/>
                <a:ea typeface="Calibri"/>
              </a:rPr>
              <a:t>✓  </a:t>
            </a:r>
            <a:r>
              <a:rPr b="0" lang="en-US" sz="1250" spc="-1" strike="noStrike">
                <a:solidFill>
                  <a:srgbClr val="cfd8dc"/>
                </a:solidFill>
                <a:latin typeface="Calibri"/>
                <a:ea typeface="Calibri"/>
              </a:rPr>
              <a:t>Code modulaire et extensible</a:t>
            </a:r>
            <a:endParaRPr b="0" lang="fr-FR" sz="1250" spc="-1" strike="noStrike">
              <a:latin typeface="Arial"/>
            </a:endParaRPr>
          </a:p>
        </p:txBody>
      </p:sp>
      <p:pic>
        <p:nvPicPr>
          <p:cNvPr id="282" name="Image 1" descr="preencoded.png"/>
          <p:cNvPicPr/>
          <p:nvPr/>
        </p:nvPicPr>
        <p:blipFill>
          <a:blip r:embed="rId2"/>
          <a:stretch/>
        </p:blipFill>
        <p:spPr>
          <a:xfrm>
            <a:off x="4846320" y="1005840"/>
            <a:ext cx="365400" cy="365400"/>
          </a:xfrm>
          <a:prstGeom prst="rect">
            <a:avLst/>
          </a:prstGeom>
          <a:ln w="0">
            <a:noFill/>
          </a:ln>
        </p:spPr>
      </p:pic>
      <p:sp>
        <p:nvSpPr>
          <p:cNvPr id="283" name="Text 8"/>
          <p:cNvSpPr/>
          <p:nvPr/>
        </p:nvSpPr>
        <p:spPr>
          <a:xfrm>
            <a:off x="5303520" y="105156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9a825"/>
                </a:solidFill>
                <a:latin typeface="Calibri"/>
                <a:ea typeface="Calibri"/>
              </a:rPr>
              <a:t>Limites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284" name="Text 9"/>
          <p:cNvSpPr/>
          <p:nvPr/>
        </p:nvSpPr>
        <p:spPr>
          <a:xfrm>
            <a:off x="4937760" y="1463040"/>
            <a:ext cx="3840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cfd8dc"/>
                </a:solidFill>
                <a:latin typeface="Calibri"/>
                <a:ea typeface="Calibri"/>
              </a:rPr>
              <a:t>⚠  </a:t>
            </a:r>
            <a:r>
              <a:rPr b="0" lang="en-US" sz="1250" spc="-1" strike="noStrike">
                <a:solidFill>
                  <a:srgbClr val="cfd8dc"/>
                </a:solidFill>
                <a:latin typeface="Calibri"/>
                <a:ea typeface="Calibri"/>
              </a:rPr>
              <a:t>Base de données limitée (10 joueurs)</a:t>
            </a:r>
            <a:endParaRPr b="0" lang="fr-FR" sz="1250" spc="-1" strike="noStrike">
              <a:latin typeface="Arial"/>
            </a:endParaRPr>
          </a:p>
        </p:txBody>
      </p:sp>
      <p:sp>
        <p:nvSpPr>
          <p:cNvPr id="285" name="Text 10"/>
          <p:cNvSpPr/>
          <p:nvPr/>
        </p:nvSpPr>
        <p:spPr>
          <a:xfrm>
            <a:off x="4937760" y="1847160"/>
            <a:ext cx="3840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cfd8dc"/>
                </a:solidFill>
                <a:latin typeface="Calibri"/>
                <a:ea typeface="Calibri"/>
              </a:rPr>
              <a:t>⚠  </a:t>
            </a:r>
            <a:r>
              <a:rPr b="0" lang="en-US" sz="1250" spc="-1" strike="noStrike">
                <a:solidFill>
                  <a:srgbClr val="cfd8dc"/>
                </a:solidFill>
                <a:latin typeface="Calibri"/>
                <a:ea typeface="Calibri"/>
              </a:rPr>
              <a:t>Plan API gratuit limite live/historique matchs</a:t>
            </a:r>
            <a:endParaRPr b="0" lang="fr-FR" sz="1250" spc="-1" strike="noStrike">
              <a:latin typeface="Arial"/>
            </a:endParaRPr>
          </a:p>
        </p:txBody>
      </p:sp>
      <p:sp>
        <p:nvSpPr>
          <p:cNvPr id="286" name="Text 11"/>
          <p:cNvSpPr/>
          <p:nvPr/>
        </p:nvSpPr>
        <p:spPr>
          <a:xfrm>
            <a:off x="4937760" y="2231280"/>
            <a:ext cx="3840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cfd8dc"/>
                </a:solidFill>
                <a:latin typeface="Calibri"/>
                <a:ea typeface="Calibri"/>
              </a:rPr>
              <a:t>⚠  </a:t>
            </a:r>
            <a:r>
              <a:rPr b="0" lang="en-US" sz="1250" spc="-1" strike="noStrike">
                <a:solidFill>
                  <a:srgbClr val="cfd8dc"/>
                </a:solidFill>
                <a:latin typeface="Calibri"/>
                <a:ea typeface="Calibri"/>
              </a:rPr>
              <a:t>Pas d'apprentissage entre sessions</a:t>
            </a:r>
            <a:endParaRPr b="0" lang="fr-FR" sz="1250" spc="-1" strike="noStrike">
              <a:latin typeface="Arial"/>
            </a:endParaRPr>
          </a:p>
        </p:txBody>
      </p:sp>
      <p:pic>
        <p:nvPicPr>
          <p:cNvPr id="287" name="Image 2" descr="preencoded.png"/>
          <p:cNvPicPr/>
          <p:nvPr/>
        </p:nvPicPr>
        <p:blipFill>
          <a:blip r:embed="rId3"/>
          <a:stretch/>
        </p:blipFill>
        <p:spPr>
          <a:xfrm>
            <a:off x="274320" y="3291840"/>
            <a:ext cx="365400" cy="365400"/>
          </a:xfrm>
          <a:prstGeom prst="rect">
            <a:avLst/>
          </a:prstGeom>
          <a:ln w="0">
            <a:noFill/>
          </a:ln>
        </p:spPr>
      </p:pic>
      <p:sp>
        <p:nvSpPr>
          <p:cNvPr id="288" name="Text 12"/>
          <p:cNvSpPr/>
          <p:nvPr/>
        </p:nvSpPr>
        <p:spPr>
          <a:xfrm>
            <a:off x="731520" y="333756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b39ddb"/>
                </a:solidFill>
                <a:latin typeface="Calibri"/>
                <a:ea typeface="Calibri"/>
              </a:rPr>
              <a:t>Perspectives d'amélioration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289" name="Text 13"/>
          <p:cNvSpPr/>
          <p:nvPr/>
        </p:nvSpPr>
        <p:spPr>
          <a:xfrm>
            <a:off x="365760" y="3794760"/>
            <a:ext cx="4114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cfd8dc"/>
                </a:solidFill>
                <a:latin typeface="Calibri"/>
                <a:ea typeface="Calibri"/>
              </a:rPr>
              <a:t>🚀  </a:t>
            </a:r>
            <a:r>
              <a:rPr b="0" lang="en-US" sz="1200" spc="-1" strike="noStrike">
                <a:solidFill>
                  <a:srgbClr val="cfd8dc"/>
                </a:solidFill>
                <a:latin typeface="Calibri"/>
                <a:ea typeface="Calibri"/>
              </a:rPr>
              <a:t>Enrichir la base de données (toutes les ligues)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290" name="Text 14"/>
          <p:cNvSpPr/>
          <p:nvPr/>
        </p:nvSpPr>
        <p:spPr>
          <a:xfrm>
            <a:off x="4754880" y="3794760"/>
            <a:ext cx="4114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cfd8dc"/>
                </a:solidFill>
                <a:latin typeface="Calibri"/>
                <a:ea typeface="Calibri"/>
              </a:rPr>
              <a:t>🚀  </a:t>
            </a:r>
            <a:r>
              <a:rPr b="0" lang="en-US" sz="1200" spc="-1" strike="noStrike">
                <a:solidFill>
                  <a:srgbClr val="cfd8dc"/>
                </a:solidFill>
                <a:latin typeface="Calibri"/>
                <a:ea typeface="Calibri"/>
              </a:rPr>
              <a:t>Ajouter un outil de recherche web (Tavily)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291" name="Text 15"/>
          <p:cNvSpPr/>
          <p:nvPr/>
        </p:nvSpPr>
        <p:spPr>
          <a:xfrm>
            <a:off x="365760" y="4178880"/>
            <a:ext cx="4114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cfd8dc"/>
                </a:solidFill>
                <a:latin typeface="Calibri"/>
                <a:ea typeface="Calibri"/>
              </a:rPr>
              <a:t>🚀  </a:t>
            </a:r>
            <a:r>
              <a:rPr b="0" lang="en-US" sz="1200" spc="-1" strike="noStrike">
                <a:solidFill>
                  <a:srgbClr val="cfd8dc"/>
                </a:solidFill>
                <a:latin typeface="Calibri"/>
                <a:ea typeface="Calibri"/>
              </a:rPr>
              <a:t>Déploiement cloud (Heroku / Hugging Face Spaces)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292" name="Text 16"/>
          <p:cNvSpPr/>
          <p:nvPr/>
        </p:nvSpPr>
        <p:spPr>
          <a:xfrm>
            <a:off x="4754880" y="4178880"/>
            <a:ext cx="4114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cfd8dc"/>
                </a:solidFill>
                <a:latin typeface="Calibri"/>
                <a:ea typeface="Calibri"/>
              </a:rPr>
              <a:t>🚀  </a:t>
            </a:r>
            <a:r>
              <a:rPr b="0" lang="en-US" sz="1200" spc="-1" strike="noStrike">
                <a:solidFill>
                  <a:srgbClr val="cfd8dc"/>
                </a:solidFill>
                <a:latin typeface="Calibri"/>
                <a:ea typeface="Calibri"/>
              </a:rPr>
              <a:t>Ajout d'analyses prédictives par ML</a:t>
            </a:r>
            <a:endParaRPr b="0" lang="fr-F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Shape 0"/>
          <p:cNvSpPr/>
          <p:nvPr/>
        </p:nvSpPr>
        <p:spPr>
          <a:xfrm>
            <a:off x="-914400" y="-914400"/>
            <a:ext cx="5486040" cy="5486040"/>
          </a:xfrm>
          <a:prstGeom prst="ellipse">
            <a:avLst/>
          </a:prstGeom>
          <a:solidFill>
            <a:srgbClr val="1a472a">
              <a:alpha val="20000"/>
            </a:srgbClr>
          </a:solidFill>
          <a:ln w="12700">
            <a:solidFill>
              <a:srgbClr val="1a472a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4" name="Shape 1"/>
          <p:cNvSpPr/>
          <p:nvPr/>
        </p:nvSpPr>
        <p:spPr>
          <a:xfrm>
            <a:off x="6400800" y="1828800"/>
            <a:ext cx="4571640" cy="4571640"/>
          </a:xfrm>
          <a:prstGeom prst="ellipse">
            <a:avLst/>
          </a:prstGeom>
          <a:solidFill>
            <a:srgbClr val="2d7a4f">
              <a:alpha val="18000"/>
            </a:srgbClr>
          </a:solidFill>
          <a:ln w="12700">
            <a:solidFill>
              <a:srgbClr val="2d7a4f">
                <a:alpha val="1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5" name="Text 2"/>
          <p:cNvSpPr/>
          <p:nvPr/>
        </p:nvSpPr>
        <p:spPr>
          <a:xfrm>
            <a:off x="457200" y="82296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f9a825"/>
                </a:solidFill>
                <a:latin typeface="Calibri"/>
                <a:ea typeface="Calibri"/>
              </a:rPr>
              <a:t>Ce que nous avons accompli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296" name="Text 3"/>
          <p:cNvSpPr/>
          <p:nvPr/>
        </p:nvSpPr>
        <p:spPr>
          <a:xfrm>
            <a:off x="457200" y="1371600"/>
            <a:ext cx="82292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400" spc="-1" strike="noStrike">
                <a:solidFill>
                  <a:srgbClr val="ffffff"/>
                </a:solidFill>
                <a:latin typeface="Calibri"/>
                <a:ea typeface="Calibri"/>
              </a:rPr>
              <a:t>Un agent IA qui raisonne,</a:t>
            </a:r>
            <a:endParaRPr b="0" lang="fr-FR" sz="34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400" spc="-1" strike="noStrike">
                <a:solidFill>
                  <a:srgbClr val="ffffff"/>
                </a:solidFill>
                <a:latin typeface="Calibri"/>
                <a:ea typeface="Calibri"/>
              </a:rPr>
              <a:t>décide et agit</a:t>
            </a:r>
            <a:endParaRPr b="0" lang="fr-FR" sz="3400" spc="-1" strike="noStrike">
              <a:latin typeface="Arial"/>
            </a:endParaRPr>
          </a:p>
        </p:txBody>
      </p:sp>
      <p:sp>
        <p:nvSpPr>
          <p:cNvPr id="297" name="Shape 4"/>
          <p:cNvSpPr/>
          <p:nvPr/>
        </p:nvSpPr>
        <p:spPr>
          <a:xfrm>
            <a:off x="3200400" y="2834640"/>
            <a:ext cx="2742840" cy="36360"/>
          </a:xfrm>
          <a:prstGeom prst="rect">
            <a:avLst/>
          </a:prstGeom>
          <a:solidFill>
            <a:srgbClr val="4caf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8" name="Shape 5"/>
          <p:cNvSpPr/>
          <p:nvPr/>
        </p:nvSpPr>
        <p:spPr>
          <a:xfrm>
            <a:off x="731520" y="3108960"/>
            <a:ext cx="1737000" cy="456840"/>
          </a:xfrm>
          <a:prstGeom prst="roundRect">
            <a:avLst>
              <a:gd name="adj" fmla="val 50000"/>
            </a:avLst>
          </a:prstGeom>
          <a:solidFill>
            <a:srgbClr val="1a47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9" name="Text 6"/>
          <p:cNvSpPr/>
          <p:nvPr/>
        </p:nvSpPr>
        <p:spPr>
          <a:xfrm>
            <a:off x="731520" y="3108960"/>
            <a:ext cx="1737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ReAct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300" name="Shape 7"/>
          <p:cNvSpPr/>
          <p:nvPr/>
        </p:nvSpPr>
        <p:spPr>
          <a:xfrm>
            <a:off x="2743200" y="3108960"/>
            <a:ext cx="1737000" cy="456840"/>
          </a:xfrm>
          <a:prstGeom prst="roundRect">
            <a:avLst>
              <a:gd name="adj" fmla="val 50000"/>
            </a:avLst>
          </a:prstGeom>
          <a:solidFill>
            <a:srgbClr val="1a47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1" name="Text 8"/>
          <p:cNvSpPr/>
          <p:nvPr/>
        </p:nvSpPr>
        <p:spPr>
          <a:xfrm>
            <a:off x="2743200" y="3108960"/>
            <a:ext cx="1737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LangChain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302" name="Shape 9"/>
          <p:cNvSpPr/>
          <p:nvPr/>
        </p:nvSpPr>
        <p:spPr>
          <a:xfrm>
            <a:off x="4754880" y="3108960"/>
            <a:ext cx="1737000" cy="456840"/>
          </a:xfrm>
          <a:prstGeom prst="roundRect">
            <a:avLst>
              <a:gd name="adj" fmla="val 50000"/>
            </a:avLst>
          </a:prstGeom>
          <a:solidFill>
            <a:srgbClr val="1a47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3" name="Text 10"/>
          <p:cNvSpPr/>
          <p:nvPr/>
        </p:nvSpPr>
        <p:spPr>
          <a:xfrm>
            <a:off x="4754880" y="3108960"/>
            <a:ext cx="1737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Tools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304" name="Shape 11"/>
          <p:cNvSpPr/>
          <p:nvPr/>
        </p:nvSpPr>
        <p:spPr>
          <a:xfrm>
            <a:off x="6766560" y="3108960"/>
            <a:ext cx="1737000" cy="456840"/>
          </a:xfrm>
          <a:prstGeom prst="roundRect">
            <a:avLst>
              <a:gd name="adj" fmla="val 50000"/>
            </a:avLst>
          </a:prstGeom>
          <a:solidFill>
            <a:srgbClr val="1a47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5" name="Text 12"/>
          <p:cNvSpPr/>
          <p:nvPr/>
        </p:nvSpPr>
        <p:spPr>
          <a:xfrm>
            <a:off x="6766560" y="3108960"/>
            <a:ext cx="1737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MCP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306" name="Shape 13"/>
          <p:cNvSpPr/>
          <p:nvPr/>
        </p:nvSpPr>
        <p:spPr>
          <a:xfrm>
            <a:off x="731520" y="3749040"/>
            <a:ext cx="1737000" cy="456840"/>
          </a:xfrm>
          <a:prstGeom prst="roundRect">
            <a:avLst>
              <a:gd name="adj" fmla="val 50000"/>
            </a:avLst>
          </a:prstGeom>
          <a:solidFill>
            <a:srgbClr val="1a47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7" name="Text 14"/>
          <p:cNvSpPr/>
          <p:nvPr/>
        </p:nvSpPr>
        <p:spPr>
          <a:xfrm>
            <a:off x="731520" y="3749040"/>
            <a:ext cx="1737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Groq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308" name="Shape 15"/>
          <p:cNvSpPr/>
          <p:nvPr/>
        </p:nvSpPr>
        <p:spPr>
          <a:xfrm>
            <a:off x="2743200" y="3749040"/>
            <a:ext cx="1737000" cy="456840"/>
          </a:xfrm>
          <a:prstGeom prst="roundRect">
            <a:avLst>
              <a:gd name="adj" fmla="val 50000"/>
            </a:avLst>
          </a:prstGeom>
          <a:solidFill>
            <a:srgbClr val="1a47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9" name="Text 16"/>
          <p:cNvSpPr/>
          <p:nvPr/>
        </p:nvSpPr>
        <p:spPr>
          <a:xfrm>
            <a:off x="2743200" y="3749040"/>
            <a:ext cx="1737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Mémoire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310" name="Shape 17"/>
          <p:cNvSpPr/>
          <p:nvPr/>
        </p:nvSpPr>
        <p:spPr>
          <a:xfrm>
            <a:off x="4754880" y="3749040"/>
            <a:ext cx="1737000" cy="456840"/>
          </a:xfrm>
          <a:prstGeom prst="roundRect">
            <a:avLst>
              <a:gd name="adj" fmla="val 50000"/>
            </a:avLst>
          </a:prstGeom>
          <a:solidFill>
            <a:srgbClr val="1a47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1" name="Text 18"/>
          <p:cNvSpPr/>
          <p:nvPr/>
        </p:nvSpPr>
        <p:spPr>
          <a:xfrm>
            <a:off x="4754880" y="3749040"/>
            <a:ext cx="1737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Streamlit</a:t>
            </a:r>
            <a:endParaRPr b="0" lang="fr-FR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4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Shape 0"/>
          <p:cNvSpPr/>
          <p:nvPr/>
        </p:nvSpPr>
        <p:spPr>
          <a:xfrm>
            <a:off x="2743200" y="-1371600"/>
            <a:ext cx="7314840" cy="7314840"/>
          </a:xfrm>
          <a:prstGeom prst="ellipse">
            <a:avLst/>
          </a:prstGeom>
          <a:solidFill>
            <a:srgbClr val="1e5c35">
              <a:alpha val="35000"/>
            </a:srgbClr>
          </a:solidFill>
          <a:ln w="12700">
            <a:solidFill>
              <a:srgbClr val="1e5c35">
                <a:alpha val="3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3" name="Text 1"/>
          <p:cNvSpPr/>
          <p:nvPr/>
        </p:nvSpPr>
        <p:spPr>
          <a:xfrm>
            <a:off x="3657600" y="457200"/>
            <a:ext cx="18284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6400" spc="-1" strike="noStrike">
                <a:solidFill>
                  <a:srgbClr val="000000"/>
                </a:solidFill>
                <a:latin typeface="Calibri"/>
              </a:rPr>
              <a:t>⚽</a:t>
            </a:r>
            <a:endParaRPr b="0" lang="fr-FR" sz="6400" spc="-1" strike="noStrike">
              <a:latin typeface="Arial"/>
            </a:endParaRPr>
          </a:p>
        </p:txBody>
      </p:sp>
      <p:sp>
        <p:nvSpPr>
          <p:cNvPr id="314" name="Text 2"/>
          <p:cNvSpPr/>
          <p:nvPr/>
        </p:nvSpPr>
        <p:spPr>
          <a:xfrm>
            <a:off x="457200" y="169164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200" spc="299" strike="noStrike">
                <a:solidFill>
                  <a:srgbClr val="ffffff"/>
                </a:solidFill>
                <a:latin typeface="Calibri"/>
                <a:ea typeface="Calibri"/>
              </a:rPr>
              <a:t>Merci !</a:t>
            </a:r>
            <a:endParaRPr b="0" lang="fr-FR" sz="5200" spc="-1" strike="noStrike">
              <a:latin typeface="Arial"/>
            </a:endParaRPr>
          </a:p>
        </p:txBody>
      </p:sp>
      <p:sp>
        <p:nvSpPr>
          <p:cNvPr id="315" name="Text 3"/>
          <p:cNvSpPr/>
          <p:nvPr/>
        </p:nvSpPr>
        <p:spPr>
          <a:xfrm>
            <a:off x="457200" y="274320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a5d6a7"/>
                </a:solidFill>
                <a:latin typeface="Calibri"/>
                <a:ea typeface="Calibri"/>
              </a:rPr>
              <a:t>Des questions ?</a:t>
            </a:r>
            <a:endParaRPr b="0" lang="fr-FR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2026-06-19T08:55:29Z</dcterms:created>
  <dc:creator>PptxGenJS</dc:creator>
  <dc:description/>
  <dc:language>fr-FR</dc:language>
  <cp:lastModifiedBy/>
  <dcterms:modified xsi:type="dcterms:W3CDTF">2026-06-25T14:00:47Z</dcterms:modified>
  <cp:revision>5</cp:revision>
  <dc:subject>PptxGenJS Presentation</dc:subject>
  <dc:title>Football Scout Agent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On-screen Show (16:9)</vt:lpwstr>
  </property>
  <property fmtid="{D5CDD505-2E9C-101B-9397-08002B2CF9AE}" pid="4" name="Slides">
    <vt:i4>12</vt:i4>
  </property>
</Properties>
</file>